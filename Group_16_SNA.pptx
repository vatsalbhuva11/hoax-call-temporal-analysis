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4" r:id="rId4"/>
    <p:sldMasterId id="2147483665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y="5143500" cx="9144000"/>
  <p:notesSz cx="6858000" cy="9144000"/>
  <p:embeddedFontLst>
    <p:embeddedFont>
      <p:font typeface="Raleway"/>
      <p:regular r:id="rId29"/>
      <p:bold r:id="rId30"/>
      <p:italic r:id="rId31"/>
      <p:boldItalic r:id="rId32"/>
    </p:embeddedFont>
    <p:embeddedFont>
      <p:font typeface="Nunito"/>
      <p:regular r:id="rId33"/>
      <p:bold r:id="rId34"/>
      <p:italic r:id="rId35"/>
      <p:boldItalic r:id="rId36"/>
    </p:embeddedFont>
    <p:embeddedFont>
      <p:font typeface="Lato"/>
      <p:regular r:id="rId37"/>
      <p:bold r:id="rId38"/>
      <p:italic r:id="rId39"/>
      <p:boldItalic r:id="rId40"/>
    </p:embeddedFont>
    <p:embeddedFont>
      <p:font typeface="Merriweather SemiBold"/>
      <p:regular r:id="rId41"/>
      <p:bold r:id="rId42"/>
      <p:italic r:id="rId43"/>
      <p:boldItalic r:id="rId4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Lato-boldItalic.fntdata"/><Relationship Id="rId20" Type="http://schemas.openxmlformats.org/officeDocument/2006/relationships/slide" Target="slides/slide14.xml"/><Relationship Id="rId42" Type="http://schemas.openxmlformats.org/officeDocument/2006/relationships/font" Target="fonts/MerriweatherSemiBold-bold.fntdata"/><Relationship Id="rId41" Type="http://schemas.openxmlformats.org/officeDocument/2006/relationships/font" Target="fonts/MerriweatherSemiBold-regular.fntdata"/><Relationship Id="rId22" Type="http://schemas.openxmlformats.org/officeDocument/2006/relationships/slide" Target="slides/slide16.xml"/><Relationship Id="rId44" Type="http://schemas.openxmlformats.org/officeDocument/2006/relationships/font" Target="fonts/MerriweatherSemiBold-boldItalic.fntdata"/><Relationship Id="rId21" Type="http://schemas.openxmlformats.org/officeDocument/2006/relationships/slide" Target="slides/slide15.xml"/><Relationship Id="rId43" Type="http://schemas.openxmlformats.org/officeDocument/2006/relationships/font" Target="fonts/MerriweatherSemiBold-italic.fntdata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Raleway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Raleway-italic.fntdata"/><Relationship Id="rId30" Type="http://schemas.openxmlformats.org/officeDocument/2006/relationships/font" Target="fonts/Raleway-bold.fntdata"/><Relationship Id="rId11" Type="http://schemas.openxmlformats.org/officeDocument/2006/relationships/slide" Target="slides/slide5.xml"/><Relationship Id="rId33" Type="http://schemas.openxmlformats.org/officeDocument/2006/relationships/font" Target="fonts/Nunito-regular.fntdata"/><Relationship Id="rId10" Type="http://schemas.openxmlformats.org/officeDocument/2006/relationships/slide" Target="slides/slide4.xml"/><Relationship Id="rId32" Type="http://schemas.openxmlformats.org/officeDocument/2006/relationships/font" Target="fonts/Raleway-boldItalic.fntdata"/><Relationship Id="rId13" Type="http://schemas.openxmlformats.org/officeDocument/2006/relationships/slide" Target="slides/slide7.xml"/><Relationship Id="rId35" Type="http://schemas.openxmlformats.org/officeDocument/2006/relationships/font" Target="fonts/Nunito-italic.fntdata"/><Relationship Id="rId12" Type="http://schemas.openxmlformats.org/officeDocument/2006/relationships/slide" Target="slides/slide6.xml"/><Relationship Id="rId34" Type="http://schemas.openxmlformats.org/officeDocument/2006/relationships/font" Target="fonts/Nunito-bold.fntdata"/><Relationship Id="rId15" Type="http://schemas.openxmlformats.org/officeDocument/2006/relationships/slide" Target="slides/slide9.xml"/><Relationship Id="rId37" Type="http://schemas.openxmlformats.org/officeDocument/2006/relationships/font" Target="fonts/Lato-regular.fntdata"/><Relationship Id="rId14" Type="http://schemas.openxmlformats.org/officeDocument/2006/relationships/slide" Target="slides/slide8.xml"/><Relationship Id="rId36" Type="http://schemas.openxmlformats.org/officeDocument/2006/relationships/font" Target="fonts/Nunito-boldItalic.fntdata"/><Relationship Id="rId17" Type="http://schemas.openxmlformats.org/officeDocument/2006/relationships/slide" Target="slides/slide11.xml"/><Relationship Id="rId39" Type="http://schemas.openxmlformats.org/officeDocument/2006/relationships/font" Target="fonts/Lato-italic.fntdata"/><Relationship Id="rId16" Type="http://schemas.openxmlformats.org/officeDocument/2006/relationships/slide" Target="slides/slide10.xml"/><Relationship Id="rId38" Type="http://schemas.openxmlformats.org/officeDocument/2006/relationships/font" Target="fonts/Lato-bold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4b80bf1a88_0_35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4b80bf1a88_0_3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4b80bf1a88_2_40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4b80bf1a88_2_4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4b80bf1a88_2_4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4b80bf1a88_2_4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4b84065ada_2_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4b84065ad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4b938adc13_1_1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4b938adc13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4b80bf1a88_2_4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4b80bf1a88_2_4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4b84065ada_2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4b84065ada_2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4b80bf1a88_0_4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4b80bf1a88_0_4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4b938adc13_1_4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4b938adc13_1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4b938adc13_1_5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4b938adc13_1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4b938adc13_1_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4b938adc13_1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4b84065ada_0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4b84065ad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4b938adc13_2_3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34b938adc13_2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4b84065ada_0_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4b84065ada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4ea935c097_0_2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34ea935c097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4ea935c097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4ea935c09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4b84065ada_0_4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4b84065ada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4ea935c097_0_4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34ea935c097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4b84065ada_0_5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34b84065ada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4b938adc13_2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4b938adc13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4b938adc13_2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4b938adc13_2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4b938adc13_2_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4b938adc13_2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3643863" y="345076"/>
            <a:ext cx="1856400" cy="4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1" i="0" sz="2800">
                <a:solidFill>
                  <a:srgbClr val="23187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1" name="Google Shape;91;p14"/>
          <p:cNvSpPr txBox="1"/>
          <p:nvPr>
            <p:ph idx="1" type="body"/>
          </p:nvPr>
        </p:nvSpPr>
        <p:spPr>
          <a:xfrm>
            <a:off x="154453" y="1472172"/>
            <a:ext cx="8835300" cy="25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1700">
                <a:solidFill>
                  <a:srgbClr val="23187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2" name="Google Shape;92;p14"/>
          <p:cNvSpPr txBox="1"/>
          <p:nvPr>
            <p:ph idx="11" type="ftr"/>
          </p:nvPr>
        </p:nvSpPr>
        <p:spPr>
          <a:xfrm>
            <a:off x="3108960" y="4783455"/>
            <a:ext cx="29262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3" name="Google Shape;93;p14"/>
          <p:cNvSpPr txBox="1"/>
          <p:nvPr>
            <p:ph idx="10" type="dt"/>
          </p:nvPr>
        </p:nvSpPr>
        <p:spPr>
          <a:xfrm>
            <a:off x="457200" y="4783455"/>
            <a:ext cx="21030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4" name="Google Shape;94;p14"/>
          <p:cNvSpPr txBox="1"/>
          <p:nvPr>
            <p:ph idx="12" type="sldNum"/>
          </p:nvPr>
        </p:nvSpPr>
        <p:spPr>
          <a:xfrm>
            <a:off x="6583680" y="4783455"/>
            <a:ext cx="2103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/>
          <p:nvPr>
            <p:ph type="ctrTitle"/>
          </p:nvPr>
        </p:nvSpPr>
        <p:spPr>
          <a:xfrm>
            <a:off x="685800" y="1594485"/>
            <a:ext cx="7772400" cy="10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7" name="Google Shape;97;p15"/>
          <p:cNvSpPr txBox="1"/>
          <p:nvPr>
            <p:ph idx="1" type="subTitle"/>
          </p:nvPr>
        </p:nvSpPr>
        <p:spPr>
          <a:xfrm>
            <a:off x="1371600" y="2880360"/>
            <a:ext cx="6400800" cy="12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8" name="Google Shape;98;p15"/>
          <p:cNvSpPr txBox="1"/>
          <p:nvPr>
            <p:ph idx="11" type="ftr"/>
          </p:nvPr>
        </p:nvSpPr>
        <p:spPr>
          <a:xfrm>
            <a:off x="3108960" y="4783455"/>
            <a:ext cx="29262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9" name="Google Shape;99;p15"/>
          <p:cNvSpPr txBox="1"/>
          <p:nvPr>
            <p:ph idx="10" type="dt"/>
          </p:nvPr>
        </p:nvSpPr>
        <p:spPr>
          <a:xfrm>
            <a:off x="457200" y="4783455"/>
            <a:ext cx="21030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6583680" y="4783455"/>
            <a:ext cx="2103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6"/>
          <p:cNvSpPr txBox="1"/>
          <p:nvPr>
            <p:ph type="title"/>
          </p:nvPr>
        </p:nvSpPr>
        <p:spPr>
          <a:xfrm>
            <a:off x="3643863" y="345076"/>
            <a:ext cx="1856400" cy="4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1" i="0" sz="2800">
                <a:solidFill>
                  <a:srgbClr val="23187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3" name="Google Shape;103;p16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4" name="Google Shape;104;p16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5" name="Google Shape;105;p16"/>
          <p:cNvSpPr txBox="1"/>
          <p:nvPr>
            <p:ph idx="11" type="ftr"/>
          </p:nvPr>
        </p:nvSpPr>
        <p:spPr>
          <a:xfrm>
            <a:off x="3108960" y="4783455"/>
            <a:ext cx="29262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6" name="Google Shape;106;p16"/>
          <p:cNvSpPr txBox="1"/>
          <p:nvPr>
            <p:ph idx="10" type="dt"/>
          </p:nvPr>
        </p:nvSpPr>
        <p:spPr>
          <a:xfrm>
            <a:off x="457200" y="4783455"/>
            <a:ext cx="21030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7" name="Google Shape;107;p16"/>
          <p:cNvSpPr txBox="1"/>
          <p:nvPr>
            <p:ph idx="12" type="sldNum"/>
          </p:nvPr>
        </p:nvSpPr>
        <p:spPr>
          <a:xfrm>
            <a:off x="6583680" y="4783455"/>
            <a:ext cx="2103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 txBox="1"/>
          <p:nvPr>
            <p:ph type="title"/>
          </p:nvPr>
        </p:nvSpPr>
        <p:spPr>
          <a:xfrm>
            <a:off x="3643863" y="345076"/>
            <a:ext cx="1856400" cy="4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1" i="0" sz="2800">
                <a:solidFill>
                  <a:srgbClr val="23187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0" name="Google Shape;110;p17"/>
          <p:cNvSpPr txBox="1"/>
          <p:nvPr>
            <p:ph idx="11" type="ftr"/>
          </p:nvPr>
        </p:nvSpPr>
        <p:spPr>
          <a:xfrm>
            <a:off x="3108960" y="4783455"/>
            <a:ext cx="29262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1" name="Google Shape;111;p17"/>
          <p:cNvSpPr txBox="1"/>
          <p:nvPr>
            <p:ph idx="10" type="dt"/>
          </p:nvPr>
        </p:nvSpPr>
        <p:spPr>
          <a:xfrm>
            <a:off x="457200" y="4783455"/>
            <a:ext cx="21030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2" name="Google Shape;112;p17"/>
          <p:cNvSpPr txBox="1"/>
          <p:nvPr>
            <p:ph idx="12" type="sldNum"/>
          </p:nvPr>
        </p:nvSpPr>
        <p:spPr>
          <a:xfrm>
            <a:off x="6583680" y="4783455"/>
            <a:ext cx="2103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8"/>
          <p:cNvSpPr txBox="1"/>
          <p:nvPr>
            <p:ph idx="11" type="ftr"/>
          </p:nvPr>
        </p:nvSpPr>
        <p:spPr>
          <a:xfrm>
            <a:off x="3108960" y="4783455"/>
            <a:ext cx="29262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5" name="Google Shape;115;p18"/>
          <p:cNvSpPr txBox="1"/>
          <p:nvPr>
            <p:ph idx="10" type="dt"/>
          </p:nvPr>
        </p:nvSpPr>
        <p:spPr>
          <a:xfrm>
            <a:off x="457200" y="4783455"/>
            <a:ext cx="21030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6583680" y="4783455"/>
            <a:ext cx="2103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mar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image" Target="../media/image7.jp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rgbClr val="B4A7D6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B4A7D6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3"/>
          <p:cNvSpPr txBox="1"/>
          <p:nvPr>
            <p:ph type="title"/>
          </p:nvPr>
        </p:nvSpPr>
        <p:spPr>
          <a:xfrm>
            <a:off x="3643863" y="345076"/>
            <a:ext cx="1856400" cy="4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1" i="0" sz="2800" u="none" cap="none" strike="noStrike">
                <a:solidFill>
                  <a:srgbClr val="23187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9pPr>
          </a:lstStyle>
          <a:p/>
        </p:txBody>
      </p:sp>
      <p:sp>
        <p:nvSpPr>
          <p:cNvPr id="85" name="Google Shape;85;p13"/>
          <p:cNvSpPr txBox="1"/>
          <p:nvPr>
            <p:ph idx="1" type="body"/>
          </p:nvPr>
        </p:nvSpPr>
        <p:spPr>
          <a:xfrm>
            <a:off x="154453" y="1472172"/>
            <a:ext cx="8835300" cy="25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1700" u="none" cap="none" strike="noStrike">
                <a:solidFill>
                  <a:srgbClr val="23187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1" type="ftr"/>
          </p:nvPr>
        </p:nvSpPr>
        <p:spPr>
          <a:xfrm>
            <a:off x="3108960" y="4783455"/>
            <a:ext cx="29262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rgbClr val="888888"/>
                </a:solidFill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9pPr>
          </a:lstStyle>
          <a:p/>
        </p:txBody>
      </p:sp>
      <p:sp>
        <p:nvSpPr>
          <p:cNvPr id="87" name="Google Shape;87;p13"/>
          <p:cNvSpPr txBox="1"/>
          <p:nvPr>
            <p:ph idx="10" type="dt"/>
          </p:nvPr>
        </p:nvSpPr>
        <p:spPr>
          <a:xfrm>
            <a:off x="457200" y="4783455"/>
            <a:ext cx="21030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rgbClr val="888888"/>
                </a:solidFill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/>
            </a:lvl9pPr>
          </a:lstStyle>
          <a:p/>
        </p:txBody>
      </p:sp>
      <p:sp>
        <p:nvSpPr>
          <p:cNvPr id="88" name="Google Shape;88;p13"/>
          <p:cNvSpPr txBox="1"/>
          <p:nvPr>
            <p:ph idx="12" type="sldNum"/>
          </p:nvPr>
        </p:nvSpPr>
        <p:spPr>
          <a:xfrm>
            <a:off x="6583680" y="4783455"/>
            <a:ext cx="2103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</a:defRPr>
            </a:lvl1pPr>
            <a:lvl2pPr indent="0" lvl="1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</a:defRPr>
            </a:lvl2pPr>
            <a:lvl3pPr indent="0" lvl="2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</a:defRPr>
            </a:lvl3pPr>
            <a:lvl4pPr indent="0" lvl="3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</a:defRPr>
            </a:lvl4pPr>
            <a:lvl5pPr indent="0" lvl="4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</a:defRPr>
            </a:lvl5pPr>
            <a:lvl6pPr indent="0" lvl="5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</a:defRPr>
            </a:lvl6pPr>
            <a:lvl7pPr indent="0" lvl="6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</a:defRPr>
            </a:lvl7pPr>
            <a:lvl8pPr indent="0" lvl="7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</a:defRPr>
            </a:lvl8pPr>
            <a:lvl9pPr indent="0" lvl="8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7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png"/><Relationship Id="rId4" Type="http://schemas.openxmlformats.org/officeDocument/2006/relationships/image" Target="../media/image1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3.png"/><Relationship Id="rId4" Type="http://schemas.openxmlformats.org/officeDocument/2006/relationships/image" Target="../media/image17.png"/><Relationship Id="rId5" Type="http://schemas.openxmlformats.org/officeDocument/2006/relationships/image" Target="../media/image1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://drive.google.com/file/d/1y1-_5pIIizjzQOnVy2DiK782Z3O11lDz/view" TargetMode="External"/><Relationship Id="rId4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9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122" name="Google Shape;122;p19"/>
          <p:cNvSpPr txBox="1"/>
          <p:nvPr/>
        </p:nvSpPr>
        <p:spPr>
          <a:xfrm>
            <a:off x="188000" y="350913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Social Network Analysis</a:t>
            </a:r>
            <a:endParaRPr b="1" sz="4000">
              <a:solidFill>
                <a:srgbClr val="1A1A1A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t/>
            </a:r>
            <a:endParaRPr b="1" sz="2400">
              <a:solidFill>
                <a:schemeClr val="dk1"/>
              </a:solidFill>
            </a:endParaRPr>
          </a:p>
        </p:txBody>
      </p:sp>
      <p:sp>
        <p:nvSpPr>
          <p:cNvPr id="123" name="Google Shape;123;p19"/>
          <p:cNvSpPr txBox="1"/>
          <p:nvPr>
            <p:ph idx="4294967295" type="subTitle"/>
          </p:nvPr>
        </p:nvSpPr>
        <p:spPr>
          <a:xfrm>
            <a:off x="415350" y="1526850"/>
            <a:ext cx="8313300" cy="40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3309">
                <a:solidFill>
                  <a:schemeClr val="dk1"/>
                </a:solidFill>
              </a:rPr>
              <a:t>Group 16 - Project</a:t>
            </a:r>
            <a:endParaRPr sz="1090"/>
          </a:p>
        </p:txBody>
      </p:sp>
      <p:sp>
        <p:nvSpPr>
          <p:cNvPr id="124" name="Google Shape;124;p19"/>
          <p:cNvSpPr txBox="1"/>
          <p:nvPr>
            <p:ph idx="4294967295" type="subTitle"/>
          </p:nvPr>
        </p:nvSpPr>
        <p:spPr>
          <a:xfrm>
            <a:off x="415350" y="2184425"/>
            <a:ext cx="8313300" cy="278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3010">
                <a:solidFill>
                  <a:schemeClr val="dk1"/>
                </a:solidFill>
              </a:rPr>
              <a:t>Title: Network Evolution Analysis</a:t>
            </a:r>
            <a:endParaRPr sz="790"/>
          </a:p>
        </p:txBody>
      </p:sp>
      <p:sp>
        <p:nvSpPr>
          <p:cNvPr id="125" name="Google Shape;125;p19"/>
          <p:cNvSpPr txBox="1"/>
          <p:nvPr/>
        </p:nvSpPr>
        <p:spPr>
          <a:xfrm>
            <a:off x="263375" y="3330875"/>
            <a:ext cx="6235800" cy="162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Group Members: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en" sz="1800">
                <a:solidFill>
                  <a:schemeClr val="dk2"/>
                </a:solidFill>
              </a:rPr>
              <a:t>IIT2022004 - Vatsal Bhuva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en" sz="1800">
                <a:solidFill>
                  <a:schemeClr val="dk2"/>
                </a:solidFill>
              </a:rPr>
              <a:t>IIT2022112 - Aayush Aeron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en" sz="1800">
                <a:solidFill>
                  <a:schemeClr val="dk2"/>
                </a:solidFill>
              </a:rPr>
              <a:t>IIT2022235 - Kotesh Boyina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/>
          <p:nvPr/>
        </p:nvSpPr>
        <p:spPr>
          <a:xfrm>
            <a:off x="0" y="-4075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131" name="Google Shape;131;p20"/>
          <p:cNvSpPr txBox="1"/>
          <p:nvPr>
            <p:ph idx="4294967295" type="subTitle"/>
          </p:nvPr>
        </p:nvSpPr>
        <p:spPr>
          <a:xfrm>
            <a:off x="415350" y="1526850"/>
            <a:ext cx="8313300" cy="246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-"/>
            </a:pPr>
            <a:r>
              <a:rPr lang="en" sz="2000">
                <a:solidFill>
                  <a:schemeClr val="dk1"/>
                </a:solidFill>
              </a:rPr>
              <a:t>Analyzing how hoax call networks evolve over time is crucial for threat detection.</a:t>
            </a:r>
            <a:br>
              <a:rPr lang="en" sz="2000">
                <a:solidFill>
                  <a:schemeClr val="dk1"/>
                </a:solidFill>
              </a:rPr>
            </a:b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-"/>
            </a:pPr>
            <a:r>
              <a:rPr lang="en" sz="2000">
                <a:solidFill>
                  <a:schemeClr val="dk1"/>
                </a:solidFill>
              </a:rPr>
              <a:t>Our project focuses on modeling dynamic network behavior using temporal graph analytics.</a:t>
            </a:r>
            <a:br>
              <a:rPr lang="en" sz="2000">
                <a:solidFill>
                  <a:schemeClr val="dk1"/>
                </a:solidFill>
              </a:rPr>
            </a:br>
            <a:endParaRPr sz="2000">
              <a:solidFill>
                <a:schemeClr val="dk1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-"/>
            </a:pPr>
            <a:r>
              <a:rPr lang="en" sz="2000">
                <a:solidFill>
                  <a:schemeClr val="dk1"/>
                </a:solidFill>
              </a:rPr>
              <a:t>It is also used to analyze behaviour between certain words, and how influential are they by using certain measures.</a:t>
            </a:r>
            <a:endParaRPr sz="1090">
              <a:solidFill>
                <a:schemeClr val="dk1"/>
              </a:solidFill>
            </a:endParaRPr>
          </a:p>
        </p:txBody>
      </p:sp>
      <p:sp>
        <p:nvSpPr>
          <p:cNvPr id="132" name="Google Shape;132;p20"/>
          <p:cNvSpPr txBox="1"/>
          <p:nvPr/>
        </p:nvSpPr>
        <p:spPr>
          <a:xfrm>
            <a:off x="188000" y="350913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400">
                <a:solidFill>
                  <a:schemeClr val="dk1"/>
                </a:solidFill>
              </a:rPr>
              <a:t>Introduction</a:t>
            </a:r>
            <a:endParaRPr b="1" sz="24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/>
          <p:nvPr/>
        </p:nvSpPr>
        <p:spPr>
          <a:xfrm>
            <a:off x="0" y="-4075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138" name="Google Shape;138;p21"/>
          <p:cNvSpPr txBox="1"/>
          <p:nvPr/>
        </p:nvSpPr>
        <p:spPr>
          <a:xfrm>
            <a:off x="188000" y="350913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400">
                <a:solidFill>
                  <a:schemeClr val="dk1"/>
                </a:solidFill>
              </a:rPr>
              <a:t>Objectives</a:t>
            </a:r>
            <a:endParaRPr b="1" sz="2400">
              <a:solidFill>
                <a:schemeClr val="dk1"/>
              </a:solidFill>
            </a:endParaRPr>
          </a:p>
        </p:txBody>
      </p:sp>
      <p:sp>
        <p:nvSpPr>
          <p:cNvPr id="139" name="Google Shape;139;p21"/>
          <p:cNvSpPr txBox="1"/>
          <p:nvPr>
            <p:ph idx="4294967295" type="subTitle"/>
          </p:nvPr>
        </p:nvSpPr>
        <p:spPr>
          <a:xfrm>
            <a:off x="229425" y="1124050"/>
            <a:ext cx="4767000" cy="3900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-"/>
            </a:pPr>
            <a:r>
              <a:rPr lang="en" sz="1600">
                <a:solidFill>
                  <a:schemeClr val="dk1"/>
                </a:solidFill>
              </a:rPr>
              <a:t>Detect </a:t>
            </a:r>
            <a:r>
              <a:rPr b="1" lang="en" sz="1600">
                <a:solidFill>
                  <a:schemeClr val="dk1"/>
                </a:solidFill>
              </a:rPr>
              <a:t>structural changes</a:t>
            </a:r>
            <a:r>
              <a:rPr lang="en" sz="1600">
                <a:solidFill>
                  <a:schemeClr val="dk1"/>
                </a:solidFill>
              </a:rPr>
              <a:t> in evolving networks.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-"/>
            </a:pPr>
            <a:r>
              <a:rPr lang="en" sz="1600">
                <a:solidFill>
                  <a:schemeClr val="dk1"/>
                </a:solidFill>
              </a:rPr>
              <a:t>Identify </a:t>
            </a:r>
            <a:r>
              <a:rPr b="1" lang="en" sz="1600">
                <a:solidFill>
                  <a:schemeClr val="dk1"/>
                </a:solidFill>
              </a:rPr>
              <a:t>emerging influencers</a:t>
            </a:r>
            <a:r>
              <a:rPr lang="en" sz="1600">
                <a:solidFill>
                  <a:schemeClr val="dk1"/>
                </a:solidFill>
              </a:rPr>
              <a:t> and </a:t>
            </a:r>
            <a:r>
              <a:rPr b="1" lang="en" sz="1600">
                <a:solidFill>
                  <a:schemeClr val="dk1"/>
                </a:solidFill>
              </a:rPr>
              <a:t>anomalous activity</a:t>
            </a:r>
            <a:r>
              <a:rPr lang="en" sz="1600">
                <a:solidFill>
                  <a:schemeClr val="dk1"/>
                </a:solidFill>
              </a:rPr>
              <a:t>.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-"/>
            </a:pPr>
            <a:r>
              <a:rPr lang="en" sz="1600">
                <a:solidFill>
                  <a:schemeClr val="dk1"/>
                </a:solidFill>
              </a:rPr>
              <a:t>Model and simulate network </a:t>
            </a:r>
            <a:r>
              <a:rPr b="1" lang="en" sz="1600">
                <a:solidFill>
                  <a:schemeClr val="dk1"/>
                </a:solidFill>
              </a:rPr>
              <a:t>growth</a:t>
            </a:r>
            <a:r>
              <a:rPr lang="en" sz="1600">
                <a:solidFill>
                  <a:schemeClr val="dk1"/>
                </a:solidFill>
              </a:rPr>
              <a:t> and </a:t>
            </a:r>
            <a:r>
              <a:rPr b="1" lang="en" sz="1600">
                <a:solidFill>
                  <a:schemeClr val="dk1"/>
                </a:solidFill>
              </a:rPr>
              <a:t>dynamics</a:t>
            </a:r>
            <a:r>
              <a:rPr lang="en" sz="1600">
                <a:solidFill>
                  <a:schemeClr val="dk1"/>
                </a:solidFill>
              </a:rPr>
              <a:t>.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-"/>
            </a:pPr>
            <a:r>
              <a:rPr lang="en" sz="1600">
                <a:solidFill>
                  <a:schemeClr val="dk1"/>
                </a:solidFill>
              </a:rPr>
              <a:t>Obtain accurate analytics of </a:t>
            </a:r>
            <a:r>
              <a:rPr b="1" lang="en" sz="1600">
                <a:solidFill>
                  <a:schemeClr val="dk1"/>
                </a:solidFill>
              </a:rPr>
              <a:t>nodes</a:t>
            </a:r>
            <a:r>
              <a:rPr lang="en" sz="1600">
                <a:solidFill>
                  <a:schemeClr val="dk1"/>
                </a:solidFill>
              </a:rPr>
              <a:t> and </a:t>
            </a:r>
            <a:r>
              <a:rPr b="1" lang="en" sz="1600">
                <a:solidFill>
                  <a:schemeClr val="dk1"/>
                </a:solidFill>
              </a:rPr>
              <a:t>edges</a:t>
            </a:r>
            <a:r>
              <a:rPr lang="en" sz="1600">
                <a:solidFill>
                  <a:schemeClr val="dk1"/>
                </a:solidFill>
              </a:rPr>
              <a:t> for analysis.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-"/>
            </a:pPr>
            <a:r>
              <a:rPr lang="en" sz="1600">
                <a:solidFill>
                  <a:schemeClr val="dk1"/>
                </a:solidFill>
              </a:rPr>
              <a:t>Provide </a:t>
            </a:r>
            <a:r>
              <a:rPr b="1" lang="en" sz="1600">
                <a:solidFill>
                  <a:schemeClr val="dk1"/>
                </a:solidFill>
              </a:rPr>
              <a:t>interactive visual analytics</a:t>
            </a:r>
            <a:r>
              <a:rPr lang="en" sz="1600">
                <a:solidFill>
                  <a:schemeClr val="dk1"/>
                </a:solidFill>
              </a:rPr>
              <a:t> to aid investigation.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140" name="Google Shape;140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11225" y="1124050"/>
            <a:ext cx="4178824" cy="2747401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1"/>
          <p:cNvSpPr txBox="1"/>
          <p:nvPr/>
        </p:nvSpPr>
        <p:spPr>
          <a:xfrm>
            <a:off x="5847350" y="3868000"/>
            <a:ext cx="31605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231870"/>
                </a:solidFill>
              </a:rPr>
              <a:t>A network of sample words</a:t>
            </a:r>
            <a:endParaRPr sz="1200">
              <a:solidFill>
                <a:srgbClr val="23187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2"/>
          <p:cNvSpPr/>
          <p:nvPr/>
        </p:nvSpPr>
        <p:spPr>
          <a:xfrm>
            <a:off x="0" y="-4075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147" name="Google Shape;147;p22"/>
          <p:cNvSpPr txBox="1"/>
          <p:nvPr/>
        </p:nvSpPr>
        <p:spPr>
          <a:xfrm>
            <a:off x="188000" y="350925"/>
            <a:ext cx="38400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400">
                <a:solidFill>
                  <a:schemeClr val="dk1"/>
                </a:solidFill>
              </a:rPr>
              <a:t>Data Preprocessing</a:t>
            </a:r>
            <a:endParaRPr b="1" sz="2400">
              <a:solidFill>
                <a:schemeClr val="dk1"/>
              </a:solidFill>
            </a:endParaRPr>
          </a:p>
        </p:txBody>
      </p:sp>
      <p:sp>
        <p:nvSpPr>
          <p:cNvPr id="148" name="Google Shape;148;p22"/>
          <p:cNvSpPr txBox="1"/>
          <p:nvPr>
            <p:ph idx="4294967295" type="subTitle"/>
          </p:nvPr>
        </p:nvSpPr>
        <p:spPr>
          <a:xfrm>
            <a:off x="237175" y="1338575"/>
            <a:ext cx="4751400" cy="280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 sz="1600">
                <a:solidFill>
                  <a:schemeClr val="dk1"/>
                </a:solidFill>
              </a:rPr>
              <a:t>We used the </a:t>
            </a:r>
            <a:r>
              <a:rPr b="1" lang="en" sz="1600">
                <a:solidFill>
                  <a:schemeClr val="dk1"/>
                </a:solidFill>
              </a:rPr>
              <a:t>Fraud-Call Detection Dataset</a:t>
            </a:r>
            <a:r>
              <a:rPr lang="en" sz="1600">
                <a:solidFill>
                  <a:schemeClr val="dk1"/>
                </a:solidFill>
              </a:rPr>
              <a:t> available on Kaggle for performing analysis.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 sz="1600">
                <a:solidFill>
                  <a:schemeClr val="dk1"/>
                </a:solidFill>
              </a:rPr>
              <a:t>The dataset contained data formatted in a way that was not easy to handle and perform calculation on.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-"/>
            </a:pPr>
            <a:r>
              <a:rPr lang="en" sz="1600">
                <a:solidFill>
                  <a:schemeClr val="dk1"/>
                </a:solidFill>
              </a:rPr>
              <a:t>For example, the messages were a single string with words separated by spaces.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This was then converted to messages separated by commas, effectively converting it to a CSV file.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149" name="Google Shape;149;p22"/>
          <p:cNvSpPr txBox="1"/>
          <p:nvPr/>
        </p:nvSpPr>
        <p:spPr>
          <a:xfrm>
            <a:off x="5714225" y="2223250"/>
            <a:ext cx="31605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231870"/>
                </a:solidFill>
              </a:rPr>
              <a:t>Original dataset</a:t>
            </a:r>
            <a:endParaRPr sz="1200">
              <a:solidFill>
                <a:srgbClr val="231870"/>
              </a:solidFill>
            </a:endParaRPr>
          </a:p>
        </p:txBody>
      </p:sp>
      <p:pic>
        <p:nvPicPr>
          <p:cNvPr id="150" name="Google Shape;15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08275" y="183600"/>
            <a:ext cx="3244000" cy="2082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08275" y="2571750"/>
            <a:ext cx="3244000" cy="2082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2"/>
          <p:cNvSpPr txBox="1"/>
          <p:nvPr/>
        </p:nvSpPr>
        <p:spPr>
          <a:xfrm>
            <a:off x="5714225" y="4653925"/>
            <a:ext cx="31605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231870"/>
                </a:solidFill>
              </a:rPr>
              <a:t>After preprocessing</a:t>
            </a:r>
            <a:endParaRPr sz="1200">
              <a:solidFill>
                <a:srgbClr val="23187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/>
          <p:nvPr/>
        </p:nvSpPr>
        <p:spPr>
          <a:xfrm>
            <a:off x="0" y="-4075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158" name="Google Shape;158;p23"/>
          <p:cNvSpPr txBox="1"/>
          <p:nvPr>
            <p:ph idx="4294967295" type="subTitle"/>
          </p:nvPr>
        </p:nvSpPr>
        <p:spPr>
          <a:xfrm>
            <a:off x="415350" y="888525"/>
            <a:ext cx="8313300" cy="39405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Community detection algorithm (Greedy Modularity Algorithm)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Network Visualization using Networkx, Matplotlib, and Plotly.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Temporal Analysis using Dynetx for word network evolution over the years.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Web-based dashboard for interactive visualization using Bokeh.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Change-detection plots on time-series using Ruptures.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Implement and contrast networks simulated by classical growth models such as Watts-Strogatz (WS) Model.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Computed key centrality measures and other </a:t>
            </a:r>
            <a:r>
              <a:rPr lang="en" sz="1600">
                <a:solidFill>
                  <a:schemeClr val="dk1"/>
                </a:solidFill>
              </a:rPr>
              <a:t>statistical</a:t>
            </a:r>
            <a:r>
              <a:rPr lang="en" sz="1600">
                <a:solidFill>
                  <a:schemeClr val="dk1"/>
                </a:solidFill>
              </a:rPr>
              <a:t> measures for analyzing the evolution of the network.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159" name="Google Shape;159;p23"/>
          <p:cNvSpPr txBox="1"/>
          <p:nvPr/>
        </p:nvSpPr>
        <p:spPr>
          <a:xfrm>
            <a:off x="188000" y="350913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400">
                <a:solidFill>
                  <a:schemeClr val="dk1"/>
                </a:solidFill>
              </a:rPr>
              <a:t>Key Features Implemented</a:t>
            </a:r>
            <a:endParaRPr b="1" sz="24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4"/>
          <p:cNvSpPr/>
          <p:nvPr/>
        </p:nvSpPr>
        <p:spPr>
          <a:xfrm>
            <a:off x="0" y="-4075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165" name="Google Shape;165;p24"/>
          <p:cNvSpPr txBox="1"/>
          <p:nvPr/>
        </p:nvSpPr>
        <p:spPr>
          <a:xfrm>
            <a:off x="188000" y="350913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400">
                <a:solidFill>
                  <a:schemeClr val="dk1"/>
                </a:solidFill>
              </a:rPr>
              <a:t>Community Detection </a:t>
            </a:r>
            <a:r>
              <a:rPr b="1" lang="en" sz="2400">
                <a:solidFill>
                  <a:schemeClr val="dk1"/>
                </a:solidFill>
              </a:rPr>
              <a:t>Algorithms</a:t>
            </a:r>
            <a:endParaRPr b="1" sz="2400">
              <a:solidFill>
                <a:schemeClr val="dk1"/>
              </a:solidFill>
            </a:endParaRPr>
          </a:p>
        </p:txBody>
      </p:sp>
      <p:sp>
        <p:nvSpPr>
          <p:cNvPr id="166" name="Google Shape;166;p24"/>
          <p:cNvSpPr txBox="1"/>
          <p:nvPr>
            <p:ph idx="4294967295" type="subTitle"/>
          </p:nvPr>
        </p:nvSpPr>
        <p:spPr>
          <a:xfrm>
            <a:off x="188000" y="1093075"/>
            <a:ext cx="4488000" cy="3879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-3175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chemeClr val="dk1"/>
                </a:solidFill>
              </a:rPr>
              <a:t>We applied community detection methods (specifically Greedy Modularity)  to understand structure and clustering.</a:t>
            </a:r>
            <a:br>
              <a:rPr lang="en" sz="1400">
                <a:solidFill>
                  <a:schemeClr val="dk1"/>
                </a:solidFill>
              </a:rPr>
            </a:br>
            <a:endParaRPr sz="14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chemeClr val="dk1"/>
                </a:solidFill>
              </a:rPr>
              <a:t>Tracked the </a:t>
            </a:r>
            <a:r>
              <a:rPr b="1" lang="en" sz="1400">
                <a:solidFill>
                  <a:schemeClr val="dk1"/>
                </a:solidFill>
              </a:rPr>
              <a:t>community evolution</a:t>
            </a:r>
            <a:r>
              <a:rPr lang="en" sz="1400">
                <a:solidFill>
                  <a:schemeClr val="dk1"/>
                </a:solidFill>
              </a:rPr>
              <a:t> across time windows.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chemeClr val="dk1"/>
                </a:solidFill>
              </a:rPr>
              <a:t>Colour-coded the communities for easy identification and visualization.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45720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</a:rPr>
              <a:t>Temporal Network Libraries</a:t>
            </a:r>
            <a:endParaRPr b="1" sz="1400">
              <a:solidFill>
                <a:schemeClr val="dk1"/>
              </a:solidFill>
            </a:endParaRPr>
          </a:p>
          <a:p>
            <a:pPr indent="45720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chemeClr val="dk1"/>
                </a:solidFill>
              </a:rPr>
              <a:t>DyNetX, igraph – dynamic network modeling.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chemeClr val="dk1"/>
                </a:solidFill>
              </a:rPr>
              <a:t>Net</a:t>
            </a:r>
            <a:r>
              <a:rPr lang="en" sz="1400">
                <a:solidFill>
                  <a:schemeClr val="dk1"/>
                </a:solidFill>
              </a:rPr>
              <a:t>w</a:t>
            </a:r>
            <a:r>
              <a:rPr lang="en" sz="1400">
                <a:solidFill>
                  <a:schemeClr val="dk1"/>
                </a:solidFill>
              </a:rPr>
              <a:t>orkX extensions and tnetwork for time-based edges.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t/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id="167" name="Google Shape;16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42100" y="888513"/>
            <a:ext cx="4022250" cy="3495475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4"/>
          <p:cNvSpPr txBox="1"/>
          <p:nvPr/>
        </p:nvSpPr>
        <p:spPr>
          <a:xfrm>
            <a:off x="4942100" y="4362775"/>
            <a:ext cx="40221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231870"/>
                </a:solidFill>
              </a:rPr>
              <a:t>Colour-coded communities of a sample dataset. Red edges indicate part of fraud call, while blue edges indicate normal calls.</a:t>
            </a:r>
            <a:endParaRPr sz="1100">
              <a:solidFill>
                <a:srgbClr val="23187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/>
          <p:nvPr/>
        </p:nvSpPr>
        <p:spPr>
          <a:xfrm>
            <a:off x="0" y="-4075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174" name="Google Shape;174;p25"/>
          <p:cNvSpPr txBox="1"/>
          <p:nvPr/>
        </p:nvSpPr>
        <p:spPr>
          <a:xfrm>
            <a:off x="188000" y="350913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400">
                <a:solidFill>
                  <a:schemeClr val="dk1"/>
                </a:solidFill>
              </a:rPr>
              <a:t>Community Detection Algorithms</a:t>
            </a:r>
            <a:endParaRPr b="1" sz="2400">
              <a:solidFill>
                <a:schemeClr val="dk1"/>
              </a:solidFill>
            </a:endParaRPr>
          </a:p>
        </p:txBody>
      </p:sp>
      <p:pic>
        <p:nvPicPr>
          <p:cNvPr id="175" name="Google Shape;17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2700" y="1158200"/>
            <a:ext cx="4130663" cy="3068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5"/>
          <p:cNvSpPr txBox="1"/>
          <p:nvPr/>
        </p:nvSpPr>
        <p:spPr>
          <a:xfrm>
            <a:off x="457275" y="4244925"/>
            <a:ext cx="40221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31870"/>
                </a:solidFill>
              </a:rPr>
              <a:t>Algorithm on a larger dataset. Many colours of the nodes indicate many different communities formed.</a:t>
            </a:r>
            <a:endParaRPr sz="900">
              <a:solidFill>
                <a:srgbClr val="231870"/>
              </a:solidFill>
            </a:endParaRPr>
          </a:p>
        </p:txBody>
      </p:sp>
      <p:pic>
        <p:nvPicPr>
          <p:cNvPr id="177" name="Google Shape;17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68700" y="1158200"/>
            <a:ext cx="4022100" cy="3068497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5"/>
          <p:cNvSpPr txBox="1"/>
          <p:nvPr/>
        </p:nvSpPr>
        <p:spPr>
          <a:xfrm>
            <a:off x="4768700" y="4244925"/>
            <a:ext cx="40221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31870"/>
                </a:solidFill>
              </a:rPr>
              <a:t>An attempt to isolate communities on a sampled dataset. This results in the formation of approximately 12 communities.</a:t>
            </a:r>
            <a:endParaRPr sz="900">
              <a:solidFill>
                <a:srgbClr val="231870"/>
              </a:solidFill>
            </a:endParaRPr>
          </a:p>
        </p:txBody>
      </p:sp>
      <p:sp>
        <p:nvSpPr>
          <p:cNvPr id="179" name="Google Shape;179;p25"/>
          <p:cNvSpPr txBox="1"/>
          <p:nvPr/>
        </p:nvSpPr>
        <p:spPr>
          <a:xfrm>
            <a:off x="4815175" y="3734925"/>
            <a:ext cx="1319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/>
              <a:t>Community 1:</a:t>
            </a:r>
            <a:endParaRPr sz="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/>
              <a:t>you, the, your, call, have, on, or, from, mobile, free</a:t>
            </a:r>
            <a:endParaRPr sz="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/>
          </a:p>
        </p:txBody>
      </p:sp>
      <p:sp>
        <p:nvSpPr>
          <p:cNvPr id="180" name="Google Shape;180;p25"/>
          <p:cNvSpPr txBox="1"/>
          <p:nvPr/>
        </p:nvSpPr>
        <p:spPr>
          <a:xfrm>
            <a:off x="7663275" y="3696200"/>
            <a:ext cx="13197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</a:rPr>
              <a:t>Community 2:</a:t>
            </a:r>
            <a:endParaRPr sz="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</a:rPr>
              <a:t>to, text, new, if, of, 150, send, win, uk, chat</a:t>
            </a:r>
            <a:endParaRPr sz="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/>
          </a:p>
        </p:txBody>
      </p:sp>
      <p:sp>
        <p:nvSpPr>
          <p:cNvPr id="181" name="Google Shape;181;p25"/>
          <p:cNvSpPr txBox="1"/>
          <p:nvPr/>
        </p:nvSpPr>
        <p:spPr>
          <a:xfrm>
            <a:off x="7521600" y="1258900"/>
            <a:ext cx="1231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/>
              <a:t>Community 3:</a:t>
            </a:r>
            <a:endParaRPr sz="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/>
              <a:t>i, now, for, like, me, can, get, do, account, then</a:t>
            </a:r>
            <a:endParaRPr sz="6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187" name="Google Shape;187;p26"/>
          <p:cNvSpPr txBox="1"/>
          <p:nvPr/>
        </p:nvSpPr>
        <p:spPr>
          <a:xfrm>
            <a:off x="188000" y="487850"/>
            <a:ext cx="52422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30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Change Point Detection</a:t>
            </a:r>
            <a:endParaRPr b="1">
              <a:solidFill>
                <a:schemeClr val="dk1"/>
              </a:solidFill>
            </a:endParaRPr>
          </a:p>
        </p:txBody>
      </p:sp>
      <p:sp>
        <p:nvSpPr>
          <p:cNvPr id="188" name="Google Shape;188;p26"/>
          <p:cNvSpPr txBox="1"/>
          <p:nvPr>
            <p:ph idx="4294967295" type="subTitle"/>
          </p:nvPr>
        </p:nvSpPr>
        <p:spPr>
          <a:xfrm>
            <a:off x="0" y="1462425"/>
            <a:ext cx="5205600" cy="3540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900">
              <a:solidFill>
                <a:schemeClr val="dk1"/>
              </a:solidFill>
            </a:endParaRPr>
          </a:p>
          <a:p>
            <a:pPr indent="-330200" lvl="0" marL="457200" marR="0" rtl="0" algn="l">
              <a:lnSpc>
                <a:spcPct val="8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Char char="-"/>
            </a:pPr>
            <a:r>
              <a:rPr lang="en" sz="1600">
                <a:solidFill>
                  <a:schemeClr val="dk1"/>
                </a:solidFill>
              </a:rPr>
              <a:t>Libraries used: ruptures, pyts, scikit-learn</a:t>
            </a:r>
            <a:endParaRPr sz="16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-"/>
            </a:pPr>
            <a:r>
              <a:rPr lang="en" sz="1600">
                <a:solidFill>
                  <a:schemeClr val="dk1"/>
                </a:solidFill>
              </a:rPr>
              <a:t>Generated time-series of edge-count using Numpy</a:t>
            </a:r>
            <a:endParaRPr sz="16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-"/>
            </a:pPr>
            <a:r>
              <a:rPr lang="en" sz="1600">
                <a:solidFill>
                  <a:schemeClr val="dk1"/>
                </a:solidFill>
              </a:rPr>
              <a:t>Detected points of sudden activity changes or structural shifts utilizing ruptures.</a:t>
            </a:r>
            <a:endParaRPr sz="16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-"/>
            </a:pPr>
            <a:r>
              <a:rPr lang="en" sz="1600">
                <a:solidFill>
                  <a:schemeClr val="dk1"/>
                </a:solidFill>
              </a:rPr>
              <a:t>Plotted a recurrence plot to compare how the network edge-counts compare with the other years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.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189" name="Google Shape;18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21700" y="139300"/>
            <a:ext cx="3422676" cy="2132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27637" y="2570137"/>
            <a:ext cx="2210825" cy="221082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6"/>
          <p:cNvSpPr txBox="1"/>
          <p:nvPr/>
        </p:nvSpPr>
        <p:spPr>
          <a:xfrm>
            <a:off x="5253688" y="2262025"/>
            <a:ext cx="3758700" cy="3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31870"/>
                </a:solidFill>
              </a:rPr>
              <a:t>Change in the edge-count over the course of 10 years.</a:t>
            </a:r>
            <a:endParaRPr sz="900">
              <a:solidFill>
                <a:srgbClr val="231870"/>
              </a:solidFill>
            </a:endParaRPr>
          </a:p>
        </p:txBody>
      </p:sp>
      <p:sp>
        <p:nvSpPr>
          <p:cNvPr id="192" name="Google Shape;192;p26"/>
          <p:cNvSpPr txBox="1"/>
          <p:nvPr/>
        </p:nvSpPr>
        <p:spPr>
          <a:xfrm>
            <a:off x="5253688" y="4726725"/>
            <a:ext cx="3758700" cy="3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31870"/>
                </a:solidFill>
              </a:rPr>
              <a:t>Comparing network edge counts of each year with every other year.</a:t>
            </a:r>
            <a:endParaRPr sz="900">
              <a:solidFill>
                <a:srgbClr val="23187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7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198" name="Google Shape;198;p27"/>
          <p:cNvSpPr txBox="1"/>
          <p:nvPr/>
        </p:nvSpPr>
        <p:spPr>
          <a:xfrm>
            <a:off x="-759300" y="199000"/>
            <a:ext cx="53313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8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Bokeh for temporal visualization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199" name="Google Shape;199;p27"/>
          <p:cNvSpPr txBox="1"/>
          <p:nvPr>
            <p:ph idx="4294967295" type="subTitle"/>
          </p:nvPr>
        </p:nvSpPr>
        <p:spPr>
          <a:xfrm>
            <a:off x="151175" y="1035025"/>
            <a:ext cx="3257100" cy="3694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800">
              <a:solidFill>
                <a:schemeClr val="dk1"/>
              </a:solidFill>
            </a:endParaRPr>
          </a:p>
          <a:p>
            <a:pPr indent="-323850" lvl="0" marL="457200" marR="0" rtl="0" algn="l">
              <a:lnSpc>
                <a:spcPct val="8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-"/>
            </a:pPr>
            <a:r>
              <a:rPr lang="en" sz="1500">
                <a:solidFill>
                  <a:schemeClr val="dk1"/>
                </a:solidFill>
              </a:rPr>
              <a:t>Bokeh server was used to allow for interactive temporal visualization.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-32385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-"/>
            </a:pPr>
            <a:r>
              <a:rPr lang="en" sz="1500">
                <a:solidFill>
                  <a:schemeClr val="dk1"/>
                </a:solidFill>
              </a:rPr>
              <a:t>It allows us to visualize the graph characteristics for any particular year, such as the word network, degree centrality, etc.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-32385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-"/>
            </a:pPr>
            <a:r>
              <a:rPr lang="en" sz="1500">
                <a:solidFill>
                  <a:schemeClr val="dk1"/>
                </a:solidFill>
              </a:rPr>
              <a:t>Also provides a trend of how the fraud/normal calls nodes and edges change over the years, providing useful insights.</a:t>
            </a:r>
            <a:endParaRPr sz="15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</a:rPr>
              <a:t>.</a:t>
            </a:r>
            <a:endParaRPr sz="1500">
              <a:solidFill>
                <a:schemeClr val="dk1"/>
              </a:solidFill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60775" y="199002"/>
            <a:ext cx="5002198" cy="2606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60775" y="2924675"/>
            <a:ext cx="2519675" cy="1942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32025" y="2924675"/>
            <a:ext cx="2422507" cy="1942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8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08" name="Google Shape;208;p28"/>
          <p:cNvSpPr txBox="1"/>
          <p:nvPr/>
        </p:nvSpPr>
        <p:spPr>
          <a:xfrm>
            <a:off x="-291600" y="191625"/>
            <a:ext cx="97272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8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Bokeh for temporal visualization</a:t>
            </a:r>
            <a:endParaRPr b="1" sz="1200">
              <a:solidFill>
                <a:schemeClr val="dk1"/>
              </a:solidFill>
            </a:endParaRPr>
          </a:p>
        </p:txBody>
      </p:sp>
      <p:pic>
        <p:nvPicPr>
          <p:cNvPr id="209" name="Google Shape;209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9525" y="806975"/>
            <a:ext cx="7404951" cy="3868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8"/>
          <p:cNvSpPr txBox="1"/>
          <p:nvPr/>
        </p:nvSpPr>
        <p:spPr>
          <a:xfrm>
            <a:off x="1226410" y="4623550"/>
            <a:ext cx="6691200" cy="3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31870"/>
                </a:solidFill>
              </a:rPr>
              <a:t>Can view the word network for different kind of messages for any particular year</a:t>
            </a:r>
            <a:endParaRPr sz="900">
              <a:solidFill>
                <a:srgbClr val="23187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9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16" name="Google Shape;216;p29"/>
          <p:cNvSpPr txBox="1"/>
          <p:nvPr/>
        </p:nvSpPr>
        <p:spPr>
          <a:xfrm>
            <a:off x="-291600" y="36700"/>
            <a:ext cx="97272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lang="en" sz="28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Bokeh for temporal visualization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217" name="Google Shape;217;p29"/>
          <p:cNvSpPr txBox="1"/>
          <p:nvPr/>
        </p:nvSpPr>
        <p:spPr>
          <a:xfrm>
            <a:off x="1226410" y="4835400"/>
            <a:ext cx="6691200" cy="3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31870"/>
                </a:solidFill>
              </a:rPr>
              <a:t>Walkthrough of the dashboard, showing all the metrics analysed and graphs plotted.</a:t>
            </a:r>
            <a:endParaRPr sz="900">
              <a:solidFill>
                <a:srgbClr val="231870"/>
              </a:solidFill>
            </a:endParaRPr>
          </a:p>
        </p:txBody>
      </p:sp>
      <p:pic>
        <p:nvPicPr>
          <p:cNvPr id="218" name="Google Shape;218;p29" title="2025-04-14 02-11-24.mkv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7025" y="761950"/>
            <a:ext cx="8140950" cy="407345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1458300" y="403900"/>
            <a:ext cx="6158400" cy="1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231870"/>
                </a:solidFill>
              </a:rPr>
              <a:t>(it is a video, view it in slideshow mode, click on it if it doesn’t run)</a:t>
            </a:r>
            <a:endParaRPr sz="1200">
              <a:solidFill>
                <a:srgbClr val="231870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25" name="Google Shape;225;p30"/>
          <p:cNvSpPr txBox="1"/>
          <p:nvPr>
            <p:ph idx="4294967295" type="subTitle"/>
          </p:nvPr>
        </p:nvSpPr>
        <p:spPr>
          <a:xfrm>
            <a:off x="310950" y="97200"/>
            <a:ext cx="8522100" cy="431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500">
                <a:solidFill>
                  <a:schemeClr val="dk1"/>
                </a:solidFill>
              </a:rPr>
              <a:t>      </a:t>
            </a:r>
            <a:r>
              <a:rPr lang="en" sz="2800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Classical Growth Models : Watts-Strogatz</a:t>
            </a:r>
            <a:endParaRPr sz="2800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226" name="Google Shape;226;p30"/>
          <p:cNvSpPr txBox="1"/>
          <p:nvPr/>
        </p:nvSpPr>
        <p:spPr>
          <a:xfrm>
            <a:off x="557925" y="1704625"/>
            <a:ext cx="83691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sp>
        <p:nvSpPr>
          <p:cNvPr id="227" name="Google Shape;227;p30"/>
          <p:cNvSpPr txBox="1"/>
          <p:nvPr/>
        </p:nvSpPr>
        <p:spPr>
          <a:xfrm>
            <a:off x="202500" y="3118250"/>
            <a:ext cx="8401500" cy="203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115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Models small-world networks with high clustering and short path lengths</a:t>
            </a:r>
            <a:br>
              <a:rPr lang="en" sz="1300">
                <a:solidFill>
                  <a:schemeClr val="dk1"/>
                </a:solidFill>
              </a:rPr>
            </a:br>
            <a:endParaRPr sz="1300">
              <a:solidFill>
                <a:schemeClr val="dk1"/>
              </a:solidFill>
            </a:endParaRPr>
          </a:p>
          <a:p>
            <a:pPr indent="-31115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Mimics real-world networks like social, biological, or word networks, allowing simpler analysis.</a:t>
            </a:r>
            <a:endParaRPr sz="13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-31115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How it works:</a:t>
            </a:r>
            <a:endParaRPr sz="13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-311150" lvl="1" marL="9144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Start with a ring lattice (each node connects to k nearest neighbors)</a:t>
            </a:r>
            <a:br>
              <a:rPr lang="en" sz="1300">
                <a:solidFill>
                  <a:schemeClr val="dk1"/>
                </a:solidFill>
              </a:rPr>
            </a:br>
            <a:endParaRPr sz="1300">
              <a:solidFill>
                <a:schemeClr val="dk1"/>
              </a:solidFill>
            </a:endParaRPr>
          </a:p>
          <a:p>
            <a:pPr indent="-311150" lvl="1" marL="9144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Rewire each edge randomly with probability p</a:t>
            </a:r>
            <a:br>
              <a:rPr lang="en" sz="1300">
                <a:solidFill>
                  <a:schemeClr val="dk1"/>
                </a:solidFill>
              </a:rPr>
            </a:br>
            <a:endParaRPr sz="1300">
              <a:solidFill>
                <a:schemeClr val="dk1"/>
              </a:solidFill>
            </a:endParaRPr>
          </a:p>
          <a:p>
            <a:pPr indent="-311150" lvl="1" marL="9144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Avoid duplicate edges and self-loops</a:t>
            </a:r>
            <a:br>
              <a:rPr lang="en" sz="1300">
                <a:solidFill>
                  <a:schemeClr val="dk1"/>
                </a:solidFill>
              </a:rPr>
            </a:b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231870"/>
              </a:solidFill>
            </a:endParaRPr>
          </a:p>
        </p:txBody>
      </p:sp>
      <p:pic>
        <p:nvPicPr>
          <p:cNvPr id="228" name="Google Shape;228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24237" y="611050"/>
            <a:ext cx="5495525" cy="2264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1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34" name="Google Shape;234;p31"/>
          <p:cNvSpPr txBox="1"/>
          <p:nvPr>
            <p:ph idx="4294967295" type="subTitle"/>
          </p:nvPr>
        </p:nvSpPr>
        <p:spPr>
          <a:xfrm>
            <a:off x="326750" y="376075"/>
            <a:ext cx="8522100" cy="431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500">
                <a:solidFill>
                  <a:schemeClr val="dk1"/>
                </a:solidFill>
              </a:rPr>
              <a:t>      </a:t>
            </a:r>
            <a:r>
              <a:rPr lang="en" sz="2800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Some Comparisons</a:t>
            </a:r>
            <a:endParaRPr sz="2800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235" name="Google Shape;235;p31"/>
          <p:cNvSpPr txBox="1"/>
          <p:nvPr/>
        </p:nvSpPr>
        <p:spPr>
          <a:xfrm>
            <a:off x="557925" y="1704625"/>
            <a:ext cx="83691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pic>
        <p:nvPicPr>
          <p:cNvPr id="236" name="Google Shape;236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7600" y="1270375"/>
            <a:ext cx="6167424" cy="3079125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31"/>
          <p:cNvSpPr txBox="1"/>
          <p:nvPr/>
        </p:nvSpPr>
        <p:spPr>
          <a:xfrm>
            <a:off x="6925725" y="2178888"/>
            <a:ext cx="20013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Real Network</a:t>
            </a:r>
            <a:r>
              <a:rPr lang="en" sz="1000"/>
              <a:t>:</a:t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Nodes: 120</a:t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Clustering Coefficient: 0.0311</a:t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Average Path Length: 7.6153</a:t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Watts-Strogatz Network</a:t>
            </a:r>
            <a:endParaRPr b="1"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Clustering Coefficient: 0.2098</a:t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Average Path Length: 4.0667</a:t>
            </a:r>
            <a:endParaRPr sz="1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B6D7A8"/>
        </a:solid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2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43" name="Google Shape;243;p32"/>
          <p:cNvSpPr txBox="1"/>
          <p:nvPr>
            <p:ph idx="4294967295" type="subTitle"/>
          </p:nvPr>
        </p:nvSpPr>
        <p:spPr>
          <a:xfrm>
            <a:off x="326750" y="376075"/>
            <a:ext cx="3797400" cy="431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500">
                <a:solidFill>
                  <a:schemeClr val="dk1"/>
                </a:solidFill>
              </a:rPr>
              <a:t>      </a:t>
            </a:r>
            <a:r>
              <a:rPr lang="en" sz="2800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Key Highlights:</a:t>
            </a:r>
            <a:endParaRPr sz="2800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244" name="Google Shape;244;p32"/>
          <p:cNvSpPr txBox="1"/>
          <p:nvPr/>
        </p:nvSpPr>
        <p:spPr>
          <a:xfrm>
            <a:off x="557925" y="1704625"/>
            <a:ext cx="83691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sp>
        <p:nvSpPr>
          <p:cNvPr id="245" name="Google Shape;245;p32"/>
          <p:cNvSpPr txBox="1"/>
          <p:nvPr/>
        </p:nvSpPr>
        <p:spPr>
          <a:xfrm>
            <a:off x="326750" y="1236175"/>
            <a:ext cx="8600400" cy="3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-"/>
            </a:pP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clustering coefficient measures how likely it is that the neighbors of a node are also connected to each ot</a:t>
            </a: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her.          </a:t>
            </a: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       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</a:t>
            </a:r>
            <a:r>
              <a:rPr b="1"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b="1" baseline="-25000"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</a:t>
            </a:r>
            <a:r>
              <a:rPr b="1"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r>
              <a:rPr b="1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2×number of links between neighbors of v/(k</a:t>
            </a:r>
            <a:r>
              <a:rPr b="1" baseline="-25000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</a:t>
            </a:r>
            <a:r>
              <a:rPr b="1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(k</a:t>
            </a:r>
            <a:r>
              <a:rPr b="1" baseline="-25000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</a:t>
            </a:r>
            <a:r>
              <a:rPr b="1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−1) </a:t>
            </a: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</a:t>
            </a:r>
            <a:r>
              <a:rPr b="1"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                                                                                                                                                                                                         </a:t>
            </a: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 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 where k</a:t>
            </a:r>
            <a:r>
              <a:rPr baseline="-25000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</a:t>
            </a: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degree (number of neighbors) of node v.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 </a:t>
            </a: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average clustering coefficient is the mean of C</a:t>
            </a:r>
            <a:r>
              <a:rPr baseline="-25000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</a:t>
            </a: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across all nodes.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Calibri"/>
              <a:buChar char="-"/>
            </a:pPr>
            <a:r>
              <a:rPr lang="en" sz="1500">
                <a:solidFill>
                  <a:srgbClr val="231870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average number of steps along the shortest paths for all possible pairs of network nodes.           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Formally:                                                                                                          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 </a:t>
            </a:r>
            <a:r>
              <a:rPr b="1"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 = 1/(n(n−1)2) ∑ </a:t>
            </a:r>
            <a:r>
              <a:rPr b="1"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i≠j </a:t>
            </a:r>
            <a:r>
              <a:rPr b="1"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d(i,j) 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where d(i,j)is the shortest path between node i and node j.</a:t>
            </a:r>
            <a:b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n is the total number of nodes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3"/>
          <p:cNvSpPr/>
          <p:nvPr/>
        </p:nvSpPr>
        <p:spPr>
          <a:xfrm>
            <a:off x="0" y="-4075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51" name="Google Shape;251;p33"/>
          <p:cNvSpPr txBox="1"/>
          <p:nvPr/>
        </p:nvSpPr>
        <p:spPr>
          <a:xfrm>
            <a:off x="557925" y="1704625"/>
            <a:ext cx="83691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sp>
        <p:nvSpPr>
          <p:cNvPr id="252" name="Google Shape;252;p33"/>
          <p:cNvSpPr txBox="1"/>
          <p:nvPr/>
        </p:nvSpPr>
        <p:spPr>
          <a:xfrm>
            <a:off x="571500" y="388250"/>
            <a:ext cx="7557000" cy="71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Visualizations</a:t>
            </a:r>
            <a:endParaRPr sz="2300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pic>
        <p:nvPicPr>
          <p:cNvPr id="253" name="Google Shape;253;p33" title="Screenshot 2025-04-14 1037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1275" y="1105850"/>
            <a:ext cx="4174450" cy="3279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33" title="Screenshot 2025-04-14 10373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15475" y="1105850"/>
            <a:ext cx="4311549" cy="327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4"/>
          <p:cNvSpPr/>
          <p:nvPr/>
        </p:nvSpPr>
        <p:spPr>
          <a:xfrm>
            <a:off x="0" y="-4075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60" name="Google Shape;260;p34"/>
          <p:cNvSpPr txBox="1"/>
          <p:nvPr>
            <p:ph idx="4294967295" type="subTitle"/>
          </p:nvPr>
        </p:nvSpPr>
        <p:spPr>
          <a:xfrm>
            <a:off x="310950" y="164625"/>
            <a:ext cx="8522100" cy="30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500">
                <a:solidFill>
                  <a:schemeClr val="dk1"/>
                </a:solidFill>
              </a:rPr>
              <a:t>     </a:t>
            </a:r>
            <a:r>
              <a:rPr lang="en">
                <a:solidFill>
                  <a:schemeClr val="dk1"/>
                </a:solidFill>
              </a:rPr>
              <a:t> </a:t>
            </a:r>
            <a:r>
              <a:rPr lang="en" sz="2000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Future Link Prediction between Nodes</a:t>
            </a:r>
            <a:endParaRPr sz="2600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261" name="Google Shape;261;p34"/>
          <p:cNvSpPr txBox="1"/>
          <p:nvPr/>
        </p:nvSpPr>
        <p:spPr>
          <a:xfrm>
            <a:off x="557925" y="1704625"/>
            <a:ext cx="83691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sp>
        <p:nvSpPr>
          <p:cNvPr id="262" name="Google Shape;262;p34"/>
          <p:cNvSpPr txBox="1"/>
          <p:nvPr/>
        </p:nvSpPr>
        <p:spPr>
          <a:xfrm>
            <a:off x="357175" y="537325"/>
            <a:ext cx="8013300" cy="40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-"/>
            </a:pPr>
            <a:r>
              <a:rPr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Predicts </a:t>
            </a:r>
            <a:r>
              <a:rPr b="1"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new or missing connections</a:t>
            </a:r>
            <a:r>
              <a:rPr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 in a network</a:t>
            </a:r>
            <a:endParaRPr sz="12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-"/>
            </a:pPr>
            <a:r>
              <a:rPr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Based on </a:t>
            </a:r>
            <a:r>
              <a:rPr b="1"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topological features</a:t>
            </a:r>
            <a:r>
              <a:rPr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, </a:t>
            </a:r>
            <a:r>
              <a:rPr b="1"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node similarity</a:t>
            </a:r>
            <a:r>
              <a:rPr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, or </a:t>
            </a:r>
            <a:r>
              <a:rPr b="1"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learning-based</a:t>
            </a:r>
            <a:r>
              <a:rPr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 models</a:t>
            </a:r>
            <a:endParaRPr sz="12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-"/>
            </a:pPr>
            <a:r>
              <a:rPr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Helps in understanding </a:t>
            </a:r>
            <a:r>
              <a:rPr b="1"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network evolution</a:t>
            </a:r>
            <a:r>
              <a:rPr lang="en" sz="12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 over tim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e.</a:t>
            </a:r>
            <a:endParaRPr b="1" sz="11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pic>
        <p:nvPicPr>
          <p:cNvPr id="263" name="Google Shape;263;p34" title="Screenshot 2025-04-14 10390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2975" y="1297661"/>
            <a:ext cx="4460624" cy="3572513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34" title="Screenshot 2025-04-14 103923.png"/>
          <p:cNvPicPr preferRelativeResize="0"/>
          <p:nvPr/>
        </p:nvPicPr>
        <p:blipFill rotWithShape="1">
          <a:blip r:embed="rId4">
            <a:alphaModFix/>
          </a:blip>
          <a:srcRect b="0" l="2248" r="0" t="0"/>
          <a:stretch/>
        </p:blipFill>
        <p:spPr>
          <a:xfrm>
            <a:off x="357175" y="1301400"/>
            <a:ext cx="4050625" cy="35687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5"/>
          <p:cNvSpPr/>
          <p:nvPr/>
        </p:nvSpPr>
        <p:spPr>
          <a:xfrm>
            <a:off x="-69725" y="-44800"/>
            <a:ext cx="9281160" cy="5228153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70" name="Google Shape;270;p35"/>
          <p:cNvSpPr txBox="1"/>
          <p:nvPr/>
        </p:nvSpPr>
        <p:spPr>
          <a:xfrm>
            <a:off x="188000" y="350913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en" sz="3300">
                <a:solidFill>
                  <a:srgbClr val="1A1A1A"/>
                </a:solidFill>
                <a:latin typeface="Comic Sans MS"/>
                <a:ea typeface="Comic Sans MS"/>
                <a:cs typeface="Comic Sans MS"/>
                <a:sym typeface="Comic Sans MS"/>
              </a:rPr>
              <a:t>Overview</a:t>
            </a:r>
            <a:endParaRPr sz="1700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271" name="Google Shape;271;p35"/>
          <p:cNvSpPr txBox="1"/>
          <p:nvPr/>
        </p:nvSpPr>
        <p:spPr>
          <a:xfrm>
            <a:off x="263375" y="2857300"/>
            <a:ext cx="7020900" cy="21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272" name="Google Shape;272;p35"/>
          <p:cNvSpPr txBox="1"/>
          <p:nvPr/>
        </p:nvSpPr>
        <p:spPr>
          <a:xfrm>
            <a:off x="263375" y="947325"/>
            <a:ext cx="8424000" cy="40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-"/>
            </a:pPr>
            <a:r>
              <a:rPr b="1"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Techniques Used:</a:t>
            </a:r>
            <a:b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-  Measures how many </a:t>
            </a:r>
            <a:r>
              <a:rPr b="1"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common nodes</a:t>
            </a: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(neighbors) two nodes share.</a:t>
            </a:r>
            <a:b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-  </a:t>
            </a:r>
            <a:r>
              <a:rPr b="1"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Idea</a:t>
            </a: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If two nodes share many neighbors, they are </a:t>
            </a:r>
            <a:r>
              <a:rPr b="1"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likely to be connected</a:t>
            </a: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the future.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2318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35"/>
          <p:cNvSpPr txBox="1"/>
          <p:nvPr/>
        </p:nvSpPr>
        <p:spPr>
          <a:xfrm>
            <a:off x="4308000" y="3724075"/>
            <a:ext cx="3801600" cy="10995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L</a:t>
            </a:r>
            <a:r>
              <a:rPr b="1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imitations: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-"/>
            </a:pPr>
            <a:r>
              <a:rPr b="1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gnores the </a:t>
            </a: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importance of neighbors</a:t>
            </a:r>
            <a:endParaRPr b="1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-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May not work well in </a:t>
            </a: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sparse graphs</a:t>
            </a:r>
            <a:endParaRPr b="1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sp>
        <p:nvSpPr>
          <p:cNvPr id="274" name="Google Shape;274;p35"/>
          <p:cNvSpPr txBox="1"/>
          <p:nvPr/>
        </p:nvSpPr>
        <p:spPr>
          <a:xfrm>
            <a:off x="4400550" y="2759775"/>
            <a:ext cx="3168900" cy="8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sp>
        <p:nvSpPr>
          <p:cNvPr id="275" name="Google Shape;275;p35"/>
          <p:cNvSpPr txBox="1"/>
          <p:nvPr/>
        </p:nvSpPr>
        <p:spPr>
          <a:xfrm>
            <a:off x="627400" y="3724075"/>
            <a:ext cx="3466200" cy="10995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A</a:t>
            </a:r>
            <a:r>
              <a:rPr b="1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dvantages:                                                                   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-"/>
            </a:pP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Simple and fast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compute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-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Works well in </a:t>
            </a: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dense networks</a:t>
            </a:r>
            <a:endParaRPr b="1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sp>
        <p:nvSpPr>
          <p:cNvPr id="276" name="Google Shape;276;p35"/>
          <p:cNvSpPr txBox="1"/>
          <p:nvPr/>
        </p:nvSpPr>
        <p:spPr>
          <a:xfrm>
            <a:off x="263375" y="2167875"/>
            <a:ext cx="7631400" cy="14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b="1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Formula:                                                                                                                                                             </a:t>
            </a:r>
            <a:r>
              <a:rPr lang="en" sz="1200">
                <a:solidFill>
                  <a:schemeClr val="dk1"/>
                </a:solidFill>
              </a:rPr>
              <a:t>Let x and y be two </a:t>
            </a:r>
            <a:r>
              <a:rPr b="1" lang="en" sz="1200">
                <a:solidFill>
                  <a:schemeClr val="dk1"/>
                </a:solidFill>
              </a:rPr>
              <a:t>unconnected nodes (words)</a:t>
            </a:r>
            <a:r>
              <a:rPr lang="en" sz="1200">
                <a:solidFill>
                  <a:schemeClr val="dk1"/>
                </a:solidFill>
              </a:rPr>
              <a:t> in the current Network. Let Γ(x) represent the </a:t>
            </a:r>
            <a:r>
              <a:rPr b="1" lang="en" sz="1200">
                <a:solidFill>
                  <a:schemeClr val="dk1"/>
                </a:solidFill>
              </a:rPr>
              <a:t>set of neighbors</a:t>
            </a:r>
            <a:r>
              <a:rPr lang="en" sz="1200">
                <a:solidFill>
                  <a:schemeClr val="dk1"/>
                </a:solidFill>
              </a:rPr>
              <a:t> of node x. </a:t>
            </a:r>
            <a:r>
              <a:rPr lang="en" sz="1300">
                <a:solidFill>
                  <a:schemeClr val="dk1"/>
                </a:solidFill>
              </a:rPr>
              <a:t>                                                                                                                                                              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nodes </a:t>
            </a: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CN(x, y) = |Γ(x) ∩ Γ(y)|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6"/>
          <p:cNvSpPr/>
          <p:nvPr/>
        </p:nvSpPr>
        <p:spPr>
          <a:xfrm>
            <a:off x="0" y="-4075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82" name="Google Shape;282;p36"/>
          <p:cNvSpPr txBox="1"/>
          <p:nvPr/>
        </p:nvSpPr>
        <p:spPr>
          <a:xfrm>
            <a:off x="557925" y="1704625"/>
            <a:ext cx="83691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sp>
        <p:nvSpPr>
          <p:cNvPr id="283" name="Google Shape;283;p36"/>
          <p:cNvSpPr txBox="1"/>
          <p:nvPr/>
        </p:nvSpPr>
        <p:spPr>
          <a:xfrm>
            <a:off x="-458300" y="58550"/>
            <a:ext cx="6941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                                            </a:t>
            </a:r>
            <a:r>
              <a:rPr lang="en" sz="2000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Predicted</a:t>
            </a:r>
            <a:r>
              <a:rPr lang="en" sz="1900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 </a:t>
            </a:r>
            <a:r>
              <a:rPr b="1" lang="en">
                <a:solidFill>
                  <a:srgbClr val="980000"/>
                </a:solidFill>
                <a:latin typeface="Comic Sans MS"/>
                <a:ea typeface="Comic Sans MS"/>
                <a:cs typeface="Comic Sans MS"/>
                <a:sym typeface="Comic Sans MS"/>
              </a:rPr>
              <a:t>vs</a:t>
            </a:r>
            <a:r>
              <a:rPr lang="en" sz="1600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 </a:t>
            </a:r>
            <a:r>
              <a:rPr lang="en" sz="2000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Actual</a:t>
            </a:r>
            <a:endParaRPr sz="2000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pic>
        <p:nvPicPr>
          <p:cNvPr id="284" name="Google Shape;284;p36" title="Screenshot 2025-04-14 10381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925" y="551150"/>
            <a:ext cx="4407376" cy="4319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36" title="Screenshot 2025-04-14 103824.png"/>
          <p:cNvPicPr preferRelativeResize="0"/>
          <p:nvPr/>
        </p:nvPicPr>
        <p:blipFill rotWithShape="1">
          <a:blip r:embed="rId4">
            <a:alphaModFix/>
          </a:blip>
          <a:srcRect b="0" l="0" r="0" t="1448"/>
          <a:stretch/>
        </p:blipFill>
        <p:spPr>
          <a:xfrm>
            <a:off x="4615500" y="551150"/>
            <a:ext cx="4407376" cy="4319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37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291" name="Google Shape;291;p37"/>
          <p:cNvSpPr txBox="1"/>
          <p:nvPr/>
        </p:nvSpPr>
        <p:spPr>
          <a:xfrm>
            <a:off x="188000" y="350913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en" sz="2900">
                <a:solidFill>
                  <a:srgbClr val="1A1A1A"/>
                </a:solidFill>
                <a:latin typeface="Comic Sans MS"/>
                <a:ea typeface="Comic Sans MS"/>
                <a:cs typeface="Comic Sans MS"/>
                <a:sym typeface="Comic Sans MS"/>
              </a:rPr>
              <a:t>Validation Methods</a:t>
            </a:r>
            <a:endParaRPr sz="2500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292" name="Google Shape;292;p37"/>
          <p:cNvSpPr txBox="1"/>
          <p:nvPr/>
        </p:nvSpPr>
        <p:spPr>
          <a:xfrm>
            <a:off x="263375" y="2857300"/>
            <a:ext cx="7020900" cy="21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293" name="Google Shape;293;p37"/>
          <p:cNvSpPr txBox="1"/>
          <p:nvPr/>
        </p:nvSpPr>
        <p:spPr>
          <a:xfrm>
            <a:off x="263375" y="1189600"/>
            <a:ext cx="3839700" cy="37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Train-Test Split (Temporal Hold-Out)</a:t>
            </a:r>
            <a:endParaRPr b="1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-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Split the network by </a:t>
            </a: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time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(e.g., train on 2020, test on 2021)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-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Predict future links using past structure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Precision &amp; Recall</a:t>
            </a:r>
            <a:endParaRPr b="1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-"/>
            </a:pP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% of predicted links that are correct.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-"/>
            </a:pP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Recall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% of actual links that were correctly predicted.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Accuracy</a:t>
            </a:r>
            <a:endParaRPr b="1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-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Measures total correctness (both link and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no-link predictions)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31870"/>
              </a:solidFill>
            </a:endParaRPr>
          </a:p>
        </p:txBody>
      </p:sp>
      <p:pic>
        <p:nvPicPr>
          <p:cNvPr id="294" name="Google Shape;294;p37" title="Screenshot 2025-04-14 13462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96000" y="554625"/>
            <a:ext cx="4715051" cy="3998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38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300" name="Google Shape;300;p38"/>
          <p:cNvSpPr txBox="1"/>
          <p:nvPr/>
        </p:nvSpPr>
        <p:spPr>
          <a:xfrm>
            <a:off x="188000" y="350913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en" sz="3300">
                <a:solidFill>
                  <a:srgbClr val="1A1A1A"/>
                </a:solidFill>
                <a:latin typeface="Comic Sans MS"/>
                <a:ea typeface="Comic Sans MS"/>
                <a:cs typeface="Comic Sans MS"/>
                <a:sym typeface="Comic Sans MS"/>
              </a:rPr>
              <a:t>Challenges Faced</a:t>
            </a:r>
            <a:endParaRPr sz="1700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301" name="Google Shape;301;p38"/>
          <p:cNvSpPr txBox="1"/>
          <p:nvPr/>
        </p:nvSpPr>
        <p:spPr>
          <a:xfrm>
            <a:off x="263375" y="2857300"/>
            <a:ext cx="7020900" cy="21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302" name="Google Shape;302;p38"/>
          <p:cNvSpPr txBox="1"/>
          <p:nvPr/>
        </p:nvSpPr>
        <p:spPr>
          <a:xfrm>
            <a:off x="263375" y="1109700"/>
            <a:ext cx="8503800" cy="36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rgbClr val="231870"/>
              </a:buClr>
              <a:buSzPts val="17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Dataset was not formatted correctly and also included many NULL values for the messages. Data preprocessing had to be done multiple times to ensure that the data was in a format that was easy to read and process.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Plotting using Bokeh and Dynetx required going through documentation, since it was the first time we used the tool.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Large size of the dataset made it complex to model all of the data in the form of a network every time we rendered it. So we ran our tests on a smaller sample, and the final code run was on the full dataset.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Community-detection resulted in the communities being cluttered together, making it visually unappealing.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9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308" name="Google Shape;308;p39"/>
          <p:cNvSpPr txBox="1"/>
          <p:nvPr/>
        </p:nvSpPr>
        <p:spPr>
          <a:xfrm>
            <a:off x="188000" y="350913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en" sz="3300">
                <a:solidFill>
                  <a:srgbClr val="1A1A1A"/>
                </a:solidFill>
                <a:latin typeface="Comic Sans MS"/>
                <a:ea typeface="Comic Sans MS"/>
                <a:cs typeface="Comic Sans MS"/>
                <a:sym typeface="Comic Sans MS"/>
              </a:rPr>
              <a:t>Future Work</a:t>
            </a:r>
            <a:endParaRPr sz="1700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309" name="Google Shape;309;p39"/>
          <p:cNvSpPr txBox="1"/>
          <p:nvPr/>
        </p:nvSpPr>
        <p:spPr>
          <a:xfrm>
            <a:off x="263375" y="2857300"/>
            <a:ext cx="7020900" cy="21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310" name="Google Shape;310;p39"/>
          <p:cNvSpPr txBox="1"/>
          <p:nvPr/>
        </p:nvSpPr>
        <p:spPr>
          <a:xfrm>
            <a:off x="320100" y="1397075"/>
            <a:ext cx="8503800" cy="36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Enhanced Community Detection Approaches and comparison with other algorithms.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Implementing and comparing other classical growth models such as </a:t>
            </a:r>
            <a:r>
              <a:rPr b="1" lang="en" sz="1600">
                <a:solidFill>
                  <a:schemeClr val="dk1"/>
                </a:solidFill>
              </a:rPr>
              <a:t>Barabási–Albert</a:t>
            </a:r>
            <a:r>
              <a:rPr lang="en" sz="1600">
                <a:solidFill>
                  <a:schemeClr val="dk1"/>
                </a:solidFill>
              </a:rPr>
              <a:t>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Use historical data to predict future word associations or emerging fraud templates using methods like </a:t>
            </a:r>
            <a:r>
              <a:rPr b="1" lang="en" sz="1600">
                <a:solidFill>
                  <a:schemeClr val="dk1"/>
                </a:solidFill>
              </a:rPr>
              <a:t>Jaccard Similarity</a:t>
            </a:r>
            <a:r>
              <a:rPr lang="en" sz="1600">
                <a:solidFill>
                  <a:schemeClr val="dk1"/>
                </a:solidFill>
              </a:rPr>
              <a:t>.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Improvement of the web dashboard UI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0"/>
          <p:cNvSpPr/>
          <p:nvPr/>
        </p:nvSpPr>
        <p:spPr>
          <a:xfrm>
            <a:off x="0" y="0"/>
            <a:ext cx="9144000" cy="5151644"/>
          </a:xfrm>
          <a:custGeom>
            <a:rect b="b" l="l" r="r" t="t"/>
            <a:pathLst>
              <a:path extrusionOk="0" h="10201275" w="18288000">
                <a:moveTo>
                  <a:pt x="18287998" y="10201274"/>
                </a:moveTo>
                <a:lnTo>
                  <a:pt x="0" y="10201274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01274"/>
                </a:lnTo>
                <a:close/>
              </a:path>
            </a:pathLst>
          </a:custGeom>
          <a:solidFill>
            <a:srgbClr val="FAFAFA">
              <a:alpha val="749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316" name="Google Shape;316;p40"/>
          <p:cNvSpPr txBox="1"/>
          <p:nvPr/>
        </p:nvSpPr>
        <p:spPr>
          <a:xfrm>
            <a:off x="270600" y="2302938"/>
            <a:ext cx="8602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22860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en" sz="4400">
                <a:solidFill>
                  <a:srgbClr val="1A1A1A"/>
                </a:solidFill>
                <a:latin typeface="Merriweather SemiBold"/>
                <a:ea typeface="Merriweather SemiBold"/>
                <a:cs typeface="Merriweather SemiBold"/>
                <a:sym typeface="Merriweather SemiBold"/>
              </a:rPr>
              <a:t>Thank you!</a:t>
            </a:r>
            <a:endParaRPr sz="2800">
              <a:solidFill>
                <a:schemeClr val="dk1"/>
              </a:solidFill>
              <a:latin typeface="Merriweather SemiBold"/>
              <a:ea typeface="Merriweather SemiBold"/>
              <a:cs typeface="Merriweather SemiBold"/>
              <a:sym typeface="Merriweather Semi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31870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