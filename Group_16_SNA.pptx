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  <p:sldMasterId id="214748366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5143500" cx="9144000"/>
  <p:notesSz cx="6858000" cy="9144000"/>
  <p:embeddedFontLst>
    <p:embeddedFont>
      <p:font typeface="Raleway"/>
      <p:regular r:id="rId39"/>
      <p:bold r:id="rId40"/>
      <p:italic r:id="rId41"/>
      <p:boldItalic r:id="rId42"/>
    </p:embeddedFont>
    <p:embeddedFont>
      <p:font typeface="Nunito"/>
      <p:regular r:id="rId43"/>
      <p:bold r:id="rId44"/>
      <p:italic r:id="rId45"/>
      <p:boldItalic r:id="rId46"/>
    </p:embeddedFont>
    <p:embeddedFont>
      <p:font typeface="Lato"/>
      <p:regular r:id="rId47"/>
      <p:bold r:id="rId48"/>
      <p:italic r:id="rId49"/>
      <p:boldItalic r:id="rId50"/>
    </p:embeddedFont>
    <p:embeddedFont>
      <p:font typeface="Merriweather SemiBold"/>
      <p:regular r:id="rId51"/>
      <p:bold r:id="rId52"/>
      <p:italic r:id="rId53"/>
      <p:boldItalic r:id="rId5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aleway-bold.fntdata"/><Relationship Id="rId42" Type="http://schemas.openxmlformats.org/officeDocument/2006/relationships/font" Target="fonts/Raleway-boldItalic.fntdata"/><Relationship Id="rId41" Type="http://schemas.openxmlformats.org/officeDocument/2006/relationships/font" Target="fonts/Raleway-italic.fntdata"/><Relationship Id="rId44" Type="http://schemas.openxmlformats.org/officeDocument/2006/relationships/font" Target="fonts/Nunito-bold.fntdata"/><Relationship Id="rId43" Type="http://schemas.openxmlformats.org/officeDocument/2006/relationships/font" Target="fonts/Nunito-regular.fntdata"/><Relationship Id="rId46" Type="http://schemas.openxmlformats.org/officeDocument/2006/relationships/font" Target="fonts/Nunito-boldItalic.fntdata"/><Relationship Id="rId45" Type="http://schemas.openxmlformats.org/officeDocument/2006/relationships/font" Target="fonts/Nunito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Lato-bold.fntdata"/><Relationship Id="rId47" Type="http://schemas.openxmlformats.org/officeDocument/2006/relationships/font" Target="fonts/Lato-regular.fntdata"/><Relationship Id="rId49" Type="http://schemas.openxmlformats.org/officeDocument/2006/relationships/font" Target="fonts/Lato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font" Target="fonts/Raleway-regular.fntdata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MerriweatherSemiBold-regular.fntdata"/><Relationship Id="rId50" Type="http://schemas.openxmlformats.org/officeDocument/2006/relationships/font" Target="fonts/Lato-boldItalic.fntdata"/><Relationship Id="rId53" Type="http://schemas.openxmlformats.org/officeDocument/2006/relationships/font" Target="fonts/MerriweatherSemiBold-italic.fntdata"/><Relationship Id="rId52" Type="http://schemas.openxmlformats.org/officeDocument/2006/relationships/font" Target="fonts/MerriweatherSemi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54" Type="http://schemas.openxmlformats.org/officeDocument/2006/relationships/font" Target="fonts/MerriweatherSemiBol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4b80bf1a88_0_3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4b80bf1a88_0_3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4b80bf1a88_2_4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4b80bf1a88_2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b80bf1a88_2_4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4b80bf1a88_2_4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b84065ada_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4b84065ad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4b938adc13_1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4b938adc13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4b80bf1a88_2_4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4b80bf1a88_2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b84065ada_2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4b84065ada_2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b80bf1a88_0_4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4b80bf1a88_0_4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4fc2f9018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4fc2f9018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4fc2f9018d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4fc2f9018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4fc2f9018d_0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4fc2f9018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4fc2f9018d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4fc2f9018d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4fc2f9018d_0_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4fc2f9018d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4fc2f9018d_0_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4fc2f9018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4b938adc13_1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4b938adc13_1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b938adc13_1_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b938adc13_1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4fd2ae1902_2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4fd2ae1902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4fd2ae1902_2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4fd2ae1902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4fd2ae1902_2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4fd2ae1902_2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4fd2ae1902_2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4fd2ae1902_2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4fc2f9018d_0_9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4fc2f9018d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4b84065ada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4b84065ad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4b938adc13_2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4b938adc13_2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4b84065ada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4b84065ad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4ea935c097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4ea935c09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4ea935c09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4ea935c0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4b84065ada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4b84065ad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4ea935c097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4ea935c09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4b84065ada_0_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34b84065ad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4b938adc13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4b938adc1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4b938adc13_2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4b938adc13_2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4b938adc13_2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4b938adc13_2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154453" y="1472172"/>
            <a:ext cx="8835300" cy="25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17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ctrTitle"/>
          </p:nvPr>
        </p:nvSpPr>
        <p:spPr>
          <a:xfrm>
            <a:off x="685800" y="1594485"/>
            <a:ext cx="77724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7" name="Google Shape;97;p15"/>
          <p:cNvSpPr txBox="1"/>
          <p:nvPr>
            <p:ph idx="1" type="subTitle"/>
          </p:nvPr>
        </p:nvSpPr>
        <p:spPr>
          <a:xfrm>
            <a:off x="1371600" y="2880360"/>
            <a:ext cx="6400800" cy="12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5" name="Google Shape;105;p16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0" name="Google Shape;110;p17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5" name="Google Shape;115;p18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rgbClr val="B4A7D6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4A7D6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3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 u="none" cap="none" strike="noStrike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154453" y="1472172"/>
            <a:ext cx="8835300" cy="25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1700" u="none" cap="none" strike="noStrike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9pPr>
          </a:lstStyle>
          <a:p/>
        </p:txBody>
      </p:sp>
      <p:sp>
        <p:nvSpPr>
          <p:cNvPr id="87" name="Google Shape;87;p13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9pPr>
          </a:lstStyle>
          <a:p/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7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19.png"/><Relationship Id="rId5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image" Target="../media/image2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drive.google.com/file/d/1cSqfgtJWuzyUDMhNh80SKS-pIPHZPCVg/view" TargetMode="External"/><Relationship Id="rId4" Type="http://schemas.openxmlformats.org/officeDocument/2006/relationships/image" Target="../media/image11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Relationship Id="rId4" Type="http://schemas.openxmlformats.org/officeDocument/2006/relationships/image" Target="../media/image3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22" name="Google Shape;122;p19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Social Network Analysis</a:t>
            </a:r>
            <a:endParaRPr b="1" sz="4000">
              <a:solidFill>
                <a:srgbClr val="1A1A1A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23" name="Google Shape;123;p19"/>
          <p:cNvSpPr txBox="1"/>
          <p:nvPr>
            <p:ph idx="4294967295" type="subTitle"/>
          </p:nvPr>
        </p:nvSpPr>
        <p:spPr>
          <a:xfrm>
            <a:off x="415350" y="1526850"/>
            <a:ext cx="8313300" cy="40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3309">
                <a:solidFill>
                  <a:schemeClr val="dk1"/>
                </a:solidFill>
              </a:rPr>
              <a:t>Group 16 - Project</a:t>
            </a:r>
            <a:endParaRPr sz="1090"/>
          </a:p>
        </p:txBody>
      </p:sp>
      <p:sp>
        <p:nvSpPr>
          <p:cNvPr id="124" name="Google Shape;124;p19"/>
          <p:cNvSpPr txBox="1"/>
          <p:nvPr>
            <p:ph idx="4294967295" type="subTitle"/>
          </p:nvPr>
        </p:nvSpPr>
        <p:spPr>
          <a:xfrm>
            <a:off x="415350" y="2184425"/>
            <a:ext cx="8313300" cy="27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3010">
                <a:solidFill>
                  <a:schemeClr val="dk1"/>
                </a:solidFill>
              </a:rPr>
              <a:t>Title: Network Evolution Analysis</a:t>
            </a:r>
            <a:endParaRPr sz="790"/>
          </a:p>
        </p:txBody>
      </p:sp>
      <p:sp>
        <p:nvSpPr>
          <p:cNvPr id="125" name="Google Shape;125;p19"/>
          <p:cNvSpPr txBox="1"/>
          <p:nvPr/>
        </p:nvSpPr>
        <p:spPr>
          <a:xfrm>
            <a:off x="263375" y="3330875"/>
            <a:ext cx="6235800" cy="16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Group Members: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IIT2022004 - Vatsal Bhuva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IIT2022112 - Aayush Aeron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IIT2022235 - Kotesh Boyina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31" name="Google Shape;131;p20"/>
          <p:cNvSpPr txBox="1"/>
          <p:nvPr>
            <p:ph idx="4294967295" type="subTitle"/>
          </p:nvPr>
        </p:nvSpPr>
        <p:spPr>
          <a:xfrm>
            <a:off x="415350" y="1526850"/>
            <a:ext cx="83133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Analyzing how hoax call networks evolve over time is crucial for threat detection.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Our project focuses on modeling dynamic network behavior using temporal graph analytics.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It is also used to analyze behaviour between certain words, and how influential are they by using certain measures.</a:t>
            </a:r>
            <a:endParaRPr sz="1090">
              <a:solidFill>
                <a:schemeClr val="dk1"/>
              </a:solidFill>
            </a:endParaRPr>
          </a:p>
        </p:txBody>
      </p:sp>
      <p:sp>
        <p:nvSpPr>
          <p:cNvPr id="132" name="Google Shape;132;p20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Introduction</a:t>
            </a:r>
            <a:endParaRPr b="1"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38" name="Google Shape;138;p21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Objectives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39" name="Google Shape;139;p21"/>
          <p:cNvSpPr txBox="1"/>
          <p:nvPr>
            <p:ph idx="4294967295" type="subTitle"/>
          </p:nvPr>
        </p:nvSpPr>
        <p:spPr>
          <a:xfrm>
            <a:off x="229425" y="1124050"/>
            <a:ext cx="4767000" cy="3900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Detect </a:t>
            </a:r>
            <a:r>
              <a:rPr b="1" lang="en" sz="1600">
                <a:solidFill>
                  <a:schemeClr val="dk1"/>
                </a:solidFill>
              </a:rPr>
              <a:t>structural changes</a:t>
            </a:r>
            <a:r>
              <a:rPr lang="en" sz="1600">
                <a:solidFill>
                  <a:schemeClr val="dk1"/>
                </a:solidFill>
              </a:rPr>
              <a:t> in evolving networks.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Identify </a:t>
            </a:r>
            <a:r>
              <a:rPr b="1" lang="en" sz="1600">
                <a:solidFill>
                  <a:schemeClr val="dk1"/>
                </a:solidFill>
              </a:rPr>
              <a:t>emerging influencers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anomalous activity</a:t>
            </a:r>
            <a:r>
              <a:rPr lang="en" sz="1600">
                <a:solidFill>
                  <a:schemeClr val="dk1"/>
                </a:solidFill>
              </a:rPr>
              <a:t>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Model and simulate network </a:t>
            </a:r>
            <a:r>
              <a:rPr b="1" lang="en" sz="1600">
                <a:solidFill>
                  <a:schemeClr val="dk1"/>
                </a:solidFill>
              </a:rPr>
              <a:t>growth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dynamics</a:t>
            </a:r>
            <a:r>
              <a:rPr lang="en" sz="1600">
                <a:solidFill>
                  <a:schemeClr val="dk1"/>
                </a:solidFill>
              </a:rPr>
              <a:t>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Obtain accurate analytics of </a:t>
            </a:r>
            <a:r>
              <a:rPr b="1" lang="en" sz="1600">
                <a:solidFill>
                  <a:schemeClr val="dk1"/>
                </a:solidFill>
              </a:rPr>
              <a:t>nodes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edges</a:t>
            </a:r>
            <a:r>
              <a:rPr lang="en" sz="1600">
                <a:solidFill>
                  <a:schemeClr val="dk1"/>
                </a:solidFill>
              </a:rPr>
              <a:t> for analysis.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Provide </a:t>
            </a:r>
            <a:r>
              <a:rPr b="1" lang="en" sz="1600">
                <a:solidFill>
                  <a:schemeClr val="dk1"/>
                </a:solidFill>
              </a:rPr>
              <a:t>interactive visual analytics</a:t>
            </a:r>
            <a:r>
              <a:rPr lang="en" sz="1600">
                <a:solidFill>
                  <a:schemeClr val="dk1"/>
                </a:solidFill>
              </a:rPr>
              <a:t> to aid investigation.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1225" y="1124050"/>
            <a:ext cx="4178824" cy="274740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/>
        </p:nvSpPr>
        <p:spPr>
          <a:xfrm>
            <a:off x="5847350" y="3868000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A network of sample words</a:t>
            </a:r>
            <a:endParaRPr sz="12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47" name="Google Shape;147;p22"/>
          <p:cNvSpPr txBox="1"/>
          <p:nvPr/>
        </p:nvSpPr>
        <p:spPr>
          <a:xfrm>
            <a:off x="188000" y="350925"/>
            <a:ext cx="38400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Data Preprocessing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48" name="Google Shape;148;p22"/>
          <p:cNvSpPr txBox="1"/>
          <p:nvPr>
            <p:ph idx="4294967295" type="subTitle"/>
          </p:nvPr>
        </p:nvSpPr>
        <p:spPr>
          <a:xfrm>
            <a:off x="237175" y="1338575"/>
            <a:ext cx="4751400" cy="280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 sz="1600">
                <a:solidFill>
                  <a:schemeClr val="dk1"/>
                </a:solidFill>
              </a:rPr>
              <a:t>We used the </a:t>
            </a:r>
            <a:r>
              <a:rPr b="1" lang="en" sz="1600">
                <a:solidFill>
                  <a:schemeClr val="dk1"/>
                </a:solidFill>
              </a:rPr>
              <a:t>Fraud-Call Detection Dataset</a:t>
            </a:r>
            <a:r>
              <a:rPr lang="en" sz="1600">
                <a:solidFill>
                  <a:schemeClr val="dk1"/>
                </a:solidFill>
              </a:rPr>
              <a:t> available on Kaggle for performing analysis.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 sz="1600">
                <a:solidFill>
                  <a:schemeClr val="dk1"/>
                </a:solidFill>
              </a:rPr>
              <a:t>The dataset contained data formatted in a way that was not easy to handle and perform calculation on.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For example, the messages were a single string with words separated by spaces.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This was then converted to messages separated by commas, effectively converting it to a CSV file.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5714225" y="2223250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Original dataset</a:t>
            </a:r>
            <a:endParaRPr sz="1200">
              <a:solidFill>
                <a:srgbClr val="231870"/>
              </a:solidFill>
            </a:endParaRPr>
          </a:p>
        </p:txBody>
      </p:sp>
      <p:pic>
        <p:nvPicPr>
          <p:cNvPr id="150" name="Google Shape;15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75" y="183600"/>
            <a:ext cx="3244000" cy="208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8275" y="2571750"/>
            <a:ext cx="3244000" cy="208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2"/>
          <p:cNvSpPr txBox="1"/>
          <p:nvPr/>
        </p:nvSpPr>
        <p:spPr>
          <a:xfrm>
            <a:off x="5714225" y="4653925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After preprocessing</a:t>
            </a:r>
            <a:endParaRPr sz="12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58" name="Google Shape;158;p23"/>
          <p:cNvSpPr txBox="1"/>
          <p:nvPr>
            <p:ph idx="4294967295" type="subTitle"/>
          </p:nvPr>
        </p:nvSpPr>
        <p:spPr>
          <a:xfrm>
            <a:off x="415350" y="888525"/>
            <a:ext cx="8313300" cy="3940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Community detection algorithm (Greedy Modularity Algorithm)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Network Visualization using Networkx, Matplotlib, and Plotly.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Temporal Analysis using Dynetx for word network evolution over the years.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Web-based dashboard for interactive visualization using Bokeh.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Change-detection plots on time-series using Ruptures.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Implement and contrast networks simulated by classical growth models such as Watts-Strogatz (WS) Model.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Computed key centrality measures and other </a:t>
            </a:r>
            <a:r>
              <a:rPr lang="en" sz="1600">
                <a:solidFill>
                  <a:schemeClr val="dk1"/>
                </a:solidFill>
              </a:rPr>
              <a:t>statistical</a:t>
            </a:r>
            <a:r>
              <a:rPr lang="en" sz="1600">
                <a:solidFill>
                  <a:schemeClr val="dk1"/>
                </a:solidFill>
              </a:rPr>
              <a:t> measures for analyzing the evolution of the network.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59" name="Google Shape;159;p23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Key Features Implemented</a:t>
            </a:r>
            <a:endParaRPr b="1"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65" name="Google Shape;165;p24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Community Detection </a:t>
            </a:r>
            <a:r>
              <a:rPr b="1" lang="en" sz="2400">
                <a:solidFill>
                  <a:schemeClr val="dk1"/>
                </a:solidFill>
              </a:rPr>
              <a:t>Algorithms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66" name="Google Shape;166;p24"/>
          <p:cNvSpPr txBox="1"/>
          <p:nvPr>
            <p:ph idx="4294967295" type="subTitle"/>
          </p:nvPr>
        </p:nvSpPr>
        <p:spPr>
          <a:xfrm>
            <a:off x="188000" y="1093075"/>
            <a:ext cx="4488000" cy="3879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We applied community detection methods (specifically Greedy Modularity)  to understand structure and clustering.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Tracked the </a:t>
            </a:r>
            <a:r>
              <a:rPr b="1" lang="en" sz="1400">
                <a:solidFill>
                  <a:schemeClr val="dk1"/>
                </a:solidFill>
              </a:rPr>
              <a:t>community evolution</a:t>
            </a:r>
            <a:r>
              <a:rPr lang="en" sz="1400">
                <a:solidFill>
                  <a:schemeClr val="dk1"/>
                </a:solidFill>
              </a:rPr>
              <a:t> across time windows.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Colour-coded the communities for easy identification and visualization.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Temporal Network Libraries</a:t>
            </a:r>
            <a:endParaRPr b="1" sz="14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DyNetX, igraph – dynamic network modeling.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Net</a:t>
            </a:r>
            <a:r>
              <a:rPr lang="en" sz="1400">
                <a:solidFill>
                  <a:schemeClr val="dk1"/>
                </a:solidFill>
              </a:rPr>
              <a:t>w</a:t>
            </a:r>
            <a:r>
              <a:rPr lang="en" sz="1400">
                <a:solidFill>
                  <a:schemeClr val="dk1"/>
                </a:solidFill>
              </a:rPr>
              <a:t>orkX extensions and tnetwork for time-based edges.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2100" y="888513"/>
            <a:ext cx="4022250" cy="34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4"/>
          <p:cNvSpPr txBox="1"/>
          <p:nvPr/>
        </p:nvSpPr>
        <p:spPr>
          <a:xfrm>
            <a:off x="4942100" y="4362775"/>
            <a:ext cx="40221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231870"/>
                </a:solidFill>
              </a:rPr>
              <a:t>Colour-coded communities of a sample dataset. Red edges indicate part of fraud call, while blue edges indicate normal calls.</a:t>
            </a:r>
            <a:endParaRPr sz="11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74" name="Google Shape;174;p25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Community Detection Algorithms</a:t>
            </a:r>
            <a:endParaRPr b="1" sz="2400">
              <a:solidFill>
                <a:schemeClr val="dk1"/>
              </a:solidFill>
            </a:endParaRPr>
          </a:p>
        </p:txBody>
      </p:sp>
      <p:pic>
        <p:nvPicPr>
          <p:cNvPr id="175" name="Google Shape;17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700" y="1158200"/>
            <a:ext cx="4130663" cy="3068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/>
        </p:nvSpPr>
        <p:spPr>
          <a:xfrm>
            <a:off x="457275" y="4244925"/>
            <a:ext cx="40221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Algorithm on a larger dataset. Many colours of the nodes indicate many different communities formed.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177" name="Google Shape;17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8700" y="1158200"/>
            <a:ext cx="4022100" cy="306849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5"/>
          <p:cNvSpPr txBox="1"/>
          <p:nvPr/>
        </p:nvSpPr>
        <p:spPr>
          <a:xfrm>
            <a:off x="4768700" y="4244925"/>
            <a:ext cx="40221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An attempt to isolate communities on a sampled dataset. This results in the formation of approximately 12 communities.</a:t>
            </a:r>
            <a:endParaRPr sz="900">
              <a:solidFill>
                <a:srgbClr val="231870"/>
              </a:solidFill>
            </a:endParaRPr>
          </a:p>
        </p:txBody>
      </p:sp>
      <p:sp>
        <p:nvSpPr>
          <p:cNvPr id="179" name="Google Shape;179;p25"/>
          <p:cNvSpPr txBox="1"/>
          <p:nvPr/>
        </p:nvSpPr>
        <p:spPr>
          <a:xfrm>
            <a:off x="4815175" y="3734925"/>
            <a:ext cx="1319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Community 1:</a:t>
            </a:r>
            <a:endParaRPr sz="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you, the, your, call, have, on, or, from, mobile, free</a:t>
            </a:r>
            <a:endParaRPr sz="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/>
          </a:p>
        </p:txBody>
      </p:sp>
      <p:sp>
        <p:nvSpPr>
          <p:cNvPr id="180" name="Google Shape;180;p25"/>
          <p:cNvSpPr txBox="1"/>
          <p:nvPr/>
        </p:nvSpPr>
        <p:spPr>
          <a:xfrm>
            <a:off x="7663275" y="3696200"/>
            <a:ext cx="1319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Community 2:</a:t>
            </a:r>
            <a:endParaRPr sz="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to, text, new, if, of, 150, send, win, uk, chat</a:t>
            </a:r>
            <a:endParaRPr sz="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/>
          </a:p>
        </p:txBody>
      </p:sp>
      <p:sp>
        <p:nvSpPr>
          <p:cNvPr id="181" name="Google Shape;181;p25"/>
          <p:cNvSpPr txBox="1"/>
          <p:nvPr/>
        </p:nvSpPr>
        <p:spPr>
          <a:xfrm>
            <a:off x="7521600" y="1258900"/>
            <a:ext cx="123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Community 3:</a:t>
            </a:r>
            <a:endParaRPr sz="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i, now, for, like, me, can, get, do, account, then</a:t>
            </a:r>
            <a:endParaRPr sz="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87" name="Google Shape;187;p26"/>
          <p:cNvSpPr txBox="1"/>
          <p:nvPr/>
        </p:nvSpPr>
        <p:spPr>
          <a:xfrm>
            <a:off x="188000" y="487850"/>
            <a:ext cx="5242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30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Change Point Detection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88" name="Google Shape;188;p26"/>
          <p:cNvSpPr txBox="1"/>
          <p:nvPr>
            <p:ph idx="4294967295" type="subTitle"/>
          </p:nvPr>
        </p:nvSpPr>
        <p:spPr>
          <a:xfrm>
            <a:off x="0" y="1462425"/>
            <a:ext cx="5205600" cy="3540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9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Libraries used: ruptures, pyts, scikit-learn</a:t>
            </a:r>
            <a:endParaRPr sz="16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Generated time-series of edge-count using Numpy</a:t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Detected points of sudden activity changes or structural shifts utilizing ruptures.</a:t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Plotted a recurrence plot to compare how the network edge-counts compare with the other years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89" name="Google Shape;18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1700" y="139300"/>
            <a:ext cx="3422676" cy="2132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27637" y="2570137"/>
            <a:ext cx="2210825" cy="221082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6"/>
          <p:cNvSpPr txBox="1"/>
          <p:nvPr/>
        </p:nvSpPr>
        <p:spPr>
          <a:xfrm>
            <a:off x="5253688" y="2262025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Change in the edge-count over the course of 10 years.</a:t>
            </a:r>
            <a:endParaRPr sz="900">
              <a:solidFill>
                <a:srgbClr val="231870"/>
              </a:solidFill>
            </a:endParaRPr>
          </a:p>
        </p:txBody>
      </p:sp>
      <p:sp>
        <p:nvSpPr>
          <p:cNvPr id="192" name="Google Shape;192;p26"/>
          <p:cNvSpPr txBox="1"/>
          <p:nvPr/>
        </p:nvSpPr>
        <p:spPr>
          <a:xfrm>
            <a:off x="5253688" y="4726725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Comparing network edge counts of each year with every other year.</a:t>
            </a:r>
            <a:endParaRPr sz="9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7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98" name="Google Shape;198;p27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Sentence Embeddings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199" name="Google Shape;199;p27"/>
          <p:cNvSpPr txBox="1"/>
          <p:nvPr>
            <p:ph idx="4294967295" type="subTitle"/>
          </p:nvPr>
        </p:nvSpPr>
        <p:spPr>
          <a:xfrm>
            <a:off x="492000" y="1360375"/>
            <a:ext cx="7734600" cy="3398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Used </a:t>
            </a:r>
            <a:r>
              <a:rPr b="1" lang="en" sz="1500">
                <a:solidFill>
                  <a:schemeClr val="dk1"/>
                </a:solidFill>
              </a:rPr>
              <a:t>Sentence-BERT</a:t>
            </a:r>
            <a:r>
              <a:rPr lang="en" sz="1500">
                <a:solidFill>
                  <a:schemeClr val="dk1"/>
                </a:solidFill>
              </a:rPr>
              <a:t> to convert each message into a vector (384 dimensions)</a:t>
            </a:r>
            <a:endParaRPr sz="15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Captures meaning of the full sentence, grouping actual fraud calls by their meaning and not by just analyzing pattern among words.	</a:t>
            </a:r>
            <a:endParaRPr sz="15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Helps us:</a:t>
            </a:r>
            <a:endParaRPr sz="15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lang="en" sz="1500">
                <a:solidFill>
                  <a:schemeClr val="dk1"/>
                </a:solidFill>
              </a:rPr>
              <a:t>Compare messages</a:t>
            </a:r>
            <a:endParaRPr sz="1500">
              <a:solidFill>
                <a:schemeClr val="dk1"/>
              </a:solidFill>
            </a:endParaRPr>
          </a:p>
          <a:p>
            <a:pPr indent="-32385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lang="en" sz="1500">
                <a:solidFill>
                  <a:schemeClr val="dk1"/>
                </a:solidFill>
              </a:rPr>
              <a:t>Cluster similar messages</a:t>
            </a:r>
            <a:endParaRPr sz="1500">
              <a:solidFill>
                <a:schemeClr val="dk1"/>
              </a:solidFill>
            </a:endParaRPr>
          </a:p>
          <a:p>
            <a:pPr indent="-32385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lang="en" sz="1500">
                <a:solidFill>
                  <a:schemeClr val="dk1"/>
                </a:solidFill>
              </a:rPr>
              <a:t>Train a classifier to detect hoax content</a:t>
            </a:r>
            <a:endParaRPr sz="15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Used </a:t>
            </a:r>
            <a:r>
              <a:rPr b="1" lang="en" sz="1500">
                <a:solidFill>
                  <a:schemeClr val="dk1"/>
                </a:solidFill>
              </a:rPr>
              <a:t>UMap</a:t>
            </a:r>
            <a:r>
              <a:rPr lang="en" sz="1500">
                <a:solidFill>
                  <a:schemeClr val="dk1"/>
                </a:solidFill>
              </a:rPr>
              <a:t> to map down the large number of dimensions to just 2, allowing easier visualization.</a:t>
            </a:r>
            <a:endParaRPr b="1" sz="18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8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05" name="Google Shape;205;p28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Sentence Embeddings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06" name="Google Shape;206;p28"/>
          <p:cNvSpPr txBox="1"/>
          <p:nvPr>
            <p:ph idx="4294967295" type="subTitle"/>
          </p:nvPr>
        </p:nvSpPr>
        <p:spPr>
          <a:xfrm>
            <a:off x="220875" y="1393350"/>
            <a:ext cx="3629100" cy="29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Observations:</a:t>
            </a:r>
            <a:endParaRPr b="1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2 clusters formed of the sentences (after cleaning, tokenization, etc.) using K-Means clustering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Slight overlap present between the clusters, but majorly separated.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Intuition of overlap: in real-world, some sentences may both be intended in a fraudulent manner, or may not (eg: customer care)</a:t>
            </a:r>
            <a:endParaRPr sz="14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Separation between clusters means a </a:t>
            </a:r>
            <a:r>
              <a:rPr lang="en" sz="1400">
                <a:solidFill>
                  <a:schemeClr val="dk1"/>
                </a:solidFill>
              </a:rPr>
              <a:t>classifier</a:t>
            </a:r>
            <a:r>
              <a:rPr lang="en" sz="1400">
                <a:solidFill>
                  <a:schemeClr val="dk1"/>
                </a:solidFill>
              </a:rPr>
              <a:t> can be trained for predicting if a call message is fraud.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207" name="Google Shape;20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2275" y="1035550"/>
            <a:ext cx="4738248" cy="3276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8"/>
          <p:cNvSpPr txBox="1"/>
          <p:nvPr/>
        </p:nvSpPr>
        <p:spPr>
          <a:xfrm>
            <a:off x="4722038" y="4360950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Sentence embeddings plotted to visualize their relationship semantically.</a:t>
            </a:r>
            <a:endParaRPr sz="9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14" name="Google Shape;214;p29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Word </a:t>
            </a: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Embeddings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15" name="Google Shape;215;p29"/>
          <p:cNvSpPr txBox="1"/>
          <p:nvPr>
            <p:ph idx="4294967295" type="subTitle"/>
          </p:nvPr>
        </p:nvSpPr>
        <p:spPr>
          <a:xfrm>
            <a:off x="427200" y="1385975"/>
            <a:ext cx="8175900" cy="2758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Trained </a:t>
            </a:r>
            <a:r>
              <a:rPr b="1" lang="en" sz="1400">
                <a:solidFill>
                  <a:schemeClr val="dk1"/>
                </a:solidFill>
              </a:rPr>
              <a:t>Word2Vec</a:t>
            </a:r>
            <a:r>
              <a:rPr lang="en" sz="1400">
                <a:solidFill>
                  <a:schemeClr val="dk1"/>
                </a:solidFill>
              </a:rPr>
              <a:t> model on all messages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Each word becomes a vector based on its context. We e</a:t>
            </a:r>
            <a:r>
              <a:rPr lang="en" sz="1400">
                <a:solidFill>
                  <a:schemeClr val="dk1"/>
                </a:solidFill>
              </a:rPr>
              <a:t>xperimented with different dimensions of vectors for representing the words.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Words used similarly are placed close together in vector space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Visualized using a graph network showing how likely the words are to be used in the same context (where each word is labelled as fraud/normal based on the dominant usage in the dataset).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Example:</a:t>
            </a:r>
            <a:endParaRPr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“otp”, “verify”, “account” → cluster near each </a:t>
            </a:r>
            <a:r>
              <a:rPr lang="en" sz="1400">
                <a:solidFill>
                  <a:schemeClr val="dk1"/>
                </a:solidFill>
              </a:rPr>
              <a:t>other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-317500" lvl="0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“thanks”, “talk”, “sure” → another cluster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0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21" name="Google Shape;221;p30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Word Embeddings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22" name="Google Shape;222;p30"/>
          <p:cNvSpPr txBox="1"/>
          <p:nvPr>
            <p:ph idx="4294967295" type="subTitle"/>
          </p:nvPr>
        </p:nvSpPr>
        <p:spPr>
          <a:xfrm>
            <a:off x="293625" y="3906700"/>
            <a:ext cx="7786500" cy="10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Observation:</a:t>
            </a:r>
            <a:endParaRPr b="1" sz="14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</a:rPr>
              <a:t>Upon increasing the vector size, the Word2Vec model captures more contextual information for each word, allowing for better segregation.</a:t>
            </a:r>
            <a:endParaRPr sz="1200">
              <a:solidFill>
                <a:schemeClr val="dk1"/>
              </a:solidFill>
            </a:endParaRPr>
          </a:p>
          <a:p>
            <a:pPr indent="0" lvl="0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</a:rPr>
              <a:t>This resulted in the model identifying more words as fraud based on their contextual usage (which can be observed by the increased density of fraud words)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23" name="Google Shape;22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275" y="728875"/>
            <a:ext cx="3901123" cy="2851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4400" y="728875"/>
            <a:ext cx="3862405" cy="2851549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0"/>
          <p:cNvSpPr txBox="1"/>
          <p:nvPr/>
        </p:nvSpPr>
        <p:spPr>
          <a:xfrm>
            <a:off x="421275" y="3543600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Word embeddings visualized (Vector size = 100)</a:t>
            </a:r>
            <a:endParaRPr sz="900">
              <a:solidFill>
                <a:srgbClr val="231870"/>
              </a:solidFill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4908088" y="3543600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Word embeddings visualized (Vector size = 200)</a:t>
            </a:r>
            <a:endParaRPr sz="9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32" name="Google Shape;232;p31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Classifier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33" name="Google Shape;233;p31"/>
          <p:cNvSpPr txBox="1"/>
          <p:nvPr>
            <p:ph idx="4294967295" type="subTitle"/>
          </p:nvPr>
        </p:nvSpPr>
        <p:spPr>
          <a:xfrm>
            <a:off x="627150" y="1023650"/>
            <a:ext cx="7786500" cy="3681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111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Used the semantic meaning of the message (sentence embedding) to train a model to learn patterns of scam language.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Converted each message into a </a:t>
            </a:r>
            <a:r>
              <a:rPr b="1" lang="en" sz="1300">
                <a:solidFill>
                  <a:schemeClr val="dk1"/>
                </a:solidFill>
              </a:rPr>
              <a:t>384-dimensional vector</a:t>
            </a:r>
            <a:r>
              <a:rPr lang="en" sz="1300">
                <a:solidFill>
                  <a:schemeClr val="dk1"/>
                </a:solidFill>
              </a:rPr>
              <a:t> using </a:t>
            </a:r>
            <a:r>
              <a:rPr b="1" lang="en" sz="1300">
                <a:solidFill>
                  <a:schemeClr val="dk1"/>
                </a:solidFill>
              </a:rPr>
              <a:t>Sentence-BERT (NLP Model)</a:t>
            </a:r>
            <a:r>
              <a:rPr lang="en" sz="1300">
                <a:solidFill>
                  <a:schemeClr val="dk1"/>
                </a:solidFill>
              </a:rPr>
              <a:t>, and used a </a:t>
            </a:r>
            <a:r>
              <a:rPr b="1" lang="en" sz="1300">
                <a:solidFill>
                  <a:schemeClr val="dk1"/>
                </a:solidFill>
              </a:rPr>
              <a:t>Logistic Regression</a:t>
            </a:r>
            <a:r>
              <a:rPr lang="en" sz="1300">
                <a:solidFill>
                  <a:schemeClr val="dk1"/>
                </a:solidFill>
              </a:rPr>
              <a:t> model for classification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Model evaluated using precision, recall, F1-score, and generated a confusion matrix for visual insights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The dashboard includes </a:t>
            </a:r>
            <a:r>
              <a:rPr b="1" lang="en" sz="1300">
                <a:solidFill>
                  <a:schemeClr val="dk1"/>
                </a:solidFill>
              </a:rPr>
              <a:t>graphs</a:t>
            </a:r>
            <a:r>
              <a:rPr lang="en" sz="1300">
                <a:solidFill>
                  <a:schemeClr val="dk1"/>
                </a:solidFill>
              </a:rPr>
              <a:t>, </a:t>
            </a:r>
            <a:r>
              <a:rPr b="1" lang="en" sz="1300">
                <a:solidFill>
                  <a:schemeClr val="dk1"/>
                </a:solidFill>
              </a:rPr>
              <a:t>results</a:t>
            </a:r>
            <a:r>
              <a:rPr lang="en" sz="1300">
                <a:solidFill>
                  <a:schemeClr val="dk1"/>
                </a:solidFill>
              </a:rPr>
              <a:t>, and a </a:t>
            </a:r>
            <a:r>
              <a:rPr b="1" lang="en" sz="1300">
                <a:solidFill>
                  <a:schemeClr val="dk1"/>
                </a:solidFill>
              </a:rPr>
              <a:t>real-time classifier</a:t>
            </a:r>
            <a:r>
              <a:rPr lang="en" sz="1300">
                <a:solidFill>
                  <a:schemeClr val="dk1"/>
                </a:solidFill>
              </a:rPr>
              <a:t> which allows the user to test different sentences and check the probability of them being fraudulent or not (with the confidence percent as well)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Since our dataset has more "normal" than "fraud" messages, we used balanced class weights to: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Give more importance to fraud examples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Prevent the model from being biased toward "normal"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2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39" name="Google Shape;239;p32"/>
          <p:cNvSpPr txBox="1"/>
          <p:nvPr/>
        </p:nvSpPr>
        <p:spPr>
          <a:xfrm>
            <a:off x="-325525" y="191275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Classifier</a:t>
            </a:r>
            <a:endParaRPr b="1" sz="1200">
              <a:solidFill>
                <a:schemeClr val="dk1"/>
              </a:solidFill>
            </a:endParaRPr>
          </a:p>
        </p:txBody>
      </p:sp>
      <p:pic>
        <p:nvPicPr>
          <p:cNvPr id="240" name="Google Shape;24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237" y="847402"/>
            <a:ext cx="3272576" cy="268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51601" y="1477813"/>
            <a:ext cx="4420475" cy="1539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2"/>
          <p:cNvSpPr txBox="1"/>
          <p:nvPr/>
        </p:nvSpPr>
        <p:spPr>
          <a:xfrm>
            <a:off x="371250" y="3648825"/>
            <a:ext cx="8401500" cy="163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31870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The evaluation metrics of the Logistic Regression model suggest that it managed to learn a pattern for </a:t>
            </a:r>
            <a:r>
              <a:rPr lang="en" sz="1300">
                <a:solidFill>
                  <a:schemeClr val="dk1"/>
                </a:solidFill>
              </a:rPr>
              <a:t>detecting</a:t>
            </a:r>
            <a:r>
              <a:rPr lang="en" sz="1300">
                <a:solidFill>
                  <a:schemeClr val="dk1"/>
                </a:solidFill>
              </a:rPr>
              <a:t> whether a sentence could be a hoax one or not.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The relatively high values of </a:t>
            </a:r>
            <a:r>
              <a:rPr lang="en" sz="1300">
                <a:solidFill>
                  <a:schemeClr val="dk1"/>
                </a:solidFill>
              </a:rPr>
              <a:t>precision</a:t>
            </a:r>
            <a:r>
              <a:rPr lang="en" sz="1300">
                <a:solidFill>
                  <a:schemeClr val="dk1"/>
                </a:solidFill>
              </a:rPr>
              <a:t>, recall, and f1-score are also indicative of the success of the model.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3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48" name="Google Shape;248;p33"/>
          <p:cNvSpPr txBox="1"/>
          <p:nvPr/>
        </p:nvSpPr>
        <p:spPr>
          <a:xfrm>
            <a:off x="-759300" y="199000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49" name="Google Shape;249;p33"/>
          <p:cNvSpPr txBox="1"/>
          <p:nvPr>
            <p:ph idx="4294967295" type="subTitle"/>
          </p:nvPr>
        </p:nvSpPr>
        <p:spPr>
          <a:xfrm>
            <a:off x="151175" y="1035025"/>
            <a:ext cx="3257100" cy="369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Bokeh server was used to allow for interactive temporal visualization.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It allows us to visualize the graph characteristics for any particular year, such as the word network, degree centrality, etc.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Also provides a trend of how the fraud/normal calls nodes and edges change over the years, providing useful insights.</a:t>
            </a:r>
            <a:endParaRPr sz="15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.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250" name="Google Shape;25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0775" y="199002"/>
            <a:ext cx="5002198" cy="260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60775" y="2924675"/>
            <a:ext cx="2519675" cy="1942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2025" y="2924675"/>
            <a:ext cx="2422507" cy="194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4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58" name="Google Shape;258;p34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59" name="Google Shape;259;p34"/>
          <p:cNvSpPr txBox="1"/>
          <p:nvPr/>
        </p:nvSpPr>
        <p:spPr>
          <a:xfrm>
            <a:off x="1226422" y="4535125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Can view the word network for different kind of messages for any particular year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60" name="Google Shape;26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0821" y="729225"/>
            <a:ext cx="7242369" cy="376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5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66" name="Google Shape;266;p35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67" name="Google Shape;267;p35"/>
          <p:cNvSpPr txBox="1"/>
          <p:nvPr/>
        </p:nvSpPr>
        <p:spPr>
          <a:xfrm>
            <a:off x="1226422" y="4535125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View the trends in the type of messages over the year, providing a temporal insight.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68" name="Google Shape;26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976" y="729237"/>
            <a:ext cx="7394101" cy="384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6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74" name="Google Shape;274;p36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75" name="Google Shape;275;p36"/>
          <p:cNvSpPr txBox="1"/>
          <p:nvPr/>
        </p:nvSpPr>
        <p:spPr>
          <a:xfrm>
            <a:off x="1226397" y="4793025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NLP and Classification related insights on the hoax-call dataset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76" name="Google Shape;27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945" y="729225"/>
            <a:ext cx="4677554" cy="406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98250" y="723925"/>
            <a:ext cx="3366474" cy="2371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98250" y="3198100"/>
            <a:ext cx="3366475" cy="1584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7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84" name="Google Shape;284;p37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85" name="Google Shape;285;p37"/>
          <p:cNvSpPr txBox="1"/>
          <p:nvPr/>
        </p:nvSpPr>
        <p:spPr>
          <a:xfrm>
            <a:off x="1226397" y="4793025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Interactive statistical temporal tables for analysing the data on specific years.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7400" y="729225"/>
            <a:ext cx="7799884" cy="406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8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92" name="Google Shape;292;p38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93" name="Google Shape;293;p38"/>
          <p:cNvSpPr txBox="1"/>
          <p:nvPr/>
        </p:nvSpPr>
        <p:spPr>
          <a:xfrm>
            <a:off x="1226397" y="4675125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Link prediction and WS-modelling graphs and insights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94" name="Google Shape;29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550" y="889425"/>
            <a:ext cx="2872176" cy="374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9150" y="889425"/>
            <a:ext cx="3076501" cy="3743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04075" y="889425"/>
            <a:ext cx="2740425" cy="37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02" name="Google Shape;302;p39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303" name="Google Shape;303;p39"/>
          <p:cNvSpPr txBox="1"/>
          <p:nvPr/>
        </p:nvSpPr>
        <p:spPr>
          <a:xfrm>
            <a:off x="1226410" y="592750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(video attached)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304" name="Google Shape;304;p39" title="dashboard-vide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5338" y="934000"/>
            <a:ext cx="6933325" cy="3900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0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10" name="Google Shape;310;p40"/>
          <p:cNvSpPr txBox="1"/>
          <p:nvPr>
            <p:ph idx="4294967295" type="subTitle"/>
          </p:nvPr>
        </p:nvSpPr>
        <p:spPr>
          <a:xfrm>
            <a:off x="310950" y="97200"/>
            <a:ext cx="85221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Classical Growth Models : Watts-Strogatz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11" name="Google Shape;311;p40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12" name="Google Shape;312;p40"/>
          <p:cNvSpPr txBox="1"/>
          <p:nvPr/>
        </p:nvSpPr>
        <p:spPr>
          <a:xfrm>
            <a:off x="202500" y="3118250"/>
            <a:ext cx="8401500" cy="20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Models small-world networks with high clustering and short path lengths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Mimics real-world networks like social, biological, or word networks, allowing simpler analysis.</a:t>
            </a:r>
            <a:endParaRPr sz="13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How it works:</a:t>
            </a:r>
            <a:endParaRPr sz="13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Start with a ring lattice (each node connects to k nearest neighbors)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Rewire each edge randomly with probability p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Avoid duplicate edges and self-loops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231870"/>
              </a:solidFill>
            </a:endParaRPr>
          </a:p>
        </p:txBody>
      </p:sp>
      <p:pic>
        <p:nvPicPr>
          <p:cNvPr id="313" name="Google Shape;31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4237" y="611050"/>
            <a:ext cx="5495525" cy="22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1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19" name="Google Shape;319;p41"/>
          <p:cNvSpPr txBox="1"/>
          <p:nvPr>
            <p:ph idx="4294967295" type="subTitle"/>
          </p:nvPr>
        </p:nvSpPr>
        <p:spPr>
          <a:xfrm>
            <a:off x="326750" y="376075"/>
            <a:ext cx="85221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Some Comparisons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20" name="Google Shape;320;p41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321" name="Google Shape;32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600" y="1270375"/>
            <a:ext cx="6167424" cy="307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41"/>
          <p:cNvSpPr txBox="1"/>
          <p:nvPr/>
        </p:nvSpPr>
        <p:spPr>
          <a:xfrm>
            <a:off x="6925725" y="2178888"/>
            <a:ext cx="2001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Real Network</a:t>
            </a:r>
            <a:r>
              <a:rPr lang="en" sz="1000"/>
              <a:t>: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Nodes: 120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Clustering Coefficient: 1.0311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Average Path Length: 1.76153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Watts-Strogatz Network</a:t>
            </a:r>
            <a:endParaRPr b="1"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Clustering Coefficient: 0.2098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Average Path Length: 4.0667</a:t>
            </a:r>
            <a:endParaRPr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6D7A8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2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28" name="Google Shape;328;p42"/>
          <p:cNvSpPr txBox="1"/>
          <p:nvPr>
            <p:ph idx="4294967295" type="subTitle"/>
          </p:nvPr>
        </p:nvSpPr>
        <p:spPr>
          <a:xfrm>
            <a:off x="326750" y="376075"/>
            <a:ext cx="37974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Key Highlights: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29" name="Google Shape;329;p42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30" name="Google Shape;330;p42"/>
          <p:cNvSpPr txBox="1"/>
          <p:nvPr/>
        </p:nvSpPr>
        <p:spPr>
          <a:xfrm>
            <a:off x="326750" y="1236175"/>
            <a:ext cx="8600400" cy="3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-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clustering coefficient measures how likely it is that the neighbors of a node are also connected to each ot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her.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baseline="-25000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2×number of links between neighbors of v/(k</a:t>
            </a:r>
            <a:r>
              <a:rPr b="1"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(k</a:t>
            </a:r>
            <a:r>
              <a:rPr b="1"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−1) </a:t>
            </a: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1"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where k</a:t>
            </a:r>
            <a:r>
              <a:rPr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degree (number of neighbors) of node v.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average clustering coefficient is the mean of C</a:t>
            </a:r>
            <a:r>
              <a:rPr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across all nodes.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-"/>
            </a:pPr>
            <a:r>
              <a:rPr lang="en" sz="1500">
                <a:solidFill>
                  <a:srgbClr val="231870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average number of steps along the shortest paths for all possible pairs of network nodes.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Formally:                                                                                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r>
              <a:rPr b="1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 = 1/(n(n−1)2) ∑ </a:t>
            </a:r>
            <a:r>
              <a:rPr b="1"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i≠j </a:t>
            </a:r>
            <a:r>
              <a:rPr b="1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d(i,j) 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where d(i,j)is the shortest path between node i and node j.</a:t>
            </a:r>
            <a:b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n is the total number of nodes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3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36" name="Google Shape;336;p43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37" name="Google Shape;337;p43"/>
          <p:cNvSpPr txBox="1"/>
          <p:nvPr/>
        </p:nvSpPr>
        <p:spPr>
          <a:xfrm>
            <a:off x="571500" y="388250"/>
            <a:ext cx="7557000" cy="71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Visualizations</a:t>
            </a:r>
            <a:endParaRPr sz="23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338" name="Google Shape;338;p43" title="Screenshot 2025-04-14 1037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275" y="1105850"/>
            <a:ext cx="4174450" cy="327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43" title="Screenshot 2025-04-14 10373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5475" y="1105850"/>
            <a:ext cx="4311549" cy="327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4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45" name="Google Shape;345;p44"/>
          <p:cNvSpPr txBox="1"/>
          <p:nvPr>
            <p:ph idx="4294967295" type="subTitle"/>
          </p:nvPr>
        </p:nvSpPr>
        <p:spPr>
          <a:xfrm>
            <a:off x="310950" y="164625"/>
            <a:ext cx="8522100" cy="30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Future Link Prediction between Nodes</a:t>
            </a:r>
            <a:endParaRPr sz="26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46" name="Google Shape;346;p44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47" name="Google Shape;347;p44"/>
          <p:cNvSpPr txBox="1"/>
          <p:nvPr/>
        </p:nvSpPr>
        <p:spPr>
          <a:xfrm>
            <a:off x="357175" y="537325"/>
            <a:ext cx="8013300" cy="40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Predicts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new or missing connections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in a network</a:t>
            </a:r>
            <a:endParaRPr sz="12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Based on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topological features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,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node similarity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, or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learning-based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models</a:t>
            </a:r>
            <a:endParaRPr sz="12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Helps in understanding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network evolution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over tim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</a:t>
            </a:r>
            <a:endParaRPr b="1"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348" name="Google Shape;348;p44" title="Screenshot 2025-04-14 1039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2975" y="1297661"/>
            <a:ext cx="4460624" cy="3572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44" title="Screenshot 2025-04-14 103923.png"/>
          <p:cNvPicPr preferRelativeResize="0"/>
          <p:nvPr/>
        </p:nvPicPr>
        <p:blipFill rotWithShape="1">
          <a:blip r:embed="rId4">
            <a:alphaModFix/>
          </a:blip>
          <a:srcRect b="0" l="2248" r="0" t="0"/>
          <a:stretch/>
        </p:blipFill>
        <p:spPr>
          <a:xfrm>
            <a:off x="217400" y="1299525"/>
            <a:ext cx="4050625" cy="3568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45"/>
          <p:cNvSpPr/>
          <p:nvPr/>
        </p:nvSpPr>
        <p:spPr>
          <a:xfrm>
            <a:off x="-69725" y="-44800"/>
            <a:ext cx="9281160" cy="5228153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55" name="Google Shape;355;p45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Overview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56" name="Google Shape;356;p45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57" name="Google Shape;357;p45"/>
          <p:cNvSpPr txBox="1"/>
          <p:nvPr/>
        </p:nvSpPr>
        <p:spPr>
          <a:xfrm>
            <a:off x="263375" y="947325"/>
            <a:ext cx="8424000" cy="4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-"/>
            </a:pP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Techniques Used: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-  Measures how many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nodes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(neighbors) two nodes share.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- 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If two nodes share many neighbors, they are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likely to be connected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the future.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2318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45"/>
          <p:cNvSpPr txBox="1"/>
          <p:nvPr/>
        </p:nvSpPr>
        <p:spPr>
          <a:xfrm>
            <a:off x="4308000" y="3724075"/>
            <a:ext cx="3801600" cy="1099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L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imitations: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gnores the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importance of neighbors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May not work well in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sparse graphs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59" name="Google Shape;359;p45"/>
          <p:cNvSpPr txBox="1"/>
          <p:nvPr/>
        </p:nvSpPr>
        <p:spPr>
          <a:xfrm>
            <a:off x="4400550" y="2759775"/>
            <a:ext cx="3168900" cy="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60" name="Google Shape;360;p45"/>
          <p:cNvSpPr txBox="1"/>
          <p:nvPr/>
        </p:nvSpPr>
        <p:spPr>
          <a:xfrm>
            <a:off x="627400" y="3724075"/>
            <a:ext cx="3466200" cy="1099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A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dvantages:                                                                   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Simple and fast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compute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well in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dense networks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61" name="Google Shape;361;p45"/>
          <p:cNvSpPr txBox="1"/>
          <p:nvPr/>
        </p:nvSpPr>
        <p:spPr>
          <a:xfrm>
            <a:off x="263375" y="2167875"/>
            <a:ext cx="7631400" cy="14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Formula:                                                                                                                                                             </a:t>
            </a:r>
            <a:r>
              <a:rPr lang="en" sz="1200">
                <a:solidFill>
                  <a:schemeClr val="dk1"/>
                </a:solidFill>
              </a:rPr>
              <a:t>Let x and y be two </a:t>
            </a:r>
            <a:r>
              <a:rPr b="1" lang="en" sz="1200">
                <a:solidFill>
                  <a:schemeClr val="dk1"/>
                </a:solidFill>
              </a:rPr>
              <a:t>unconnected nodes (words)</a:t>
            </a:r>
            <a:r>
              <a:rPr lang="en" sz="1200">
                <a:solidFill>
                  <a:schemeClr val="dk1"/>
                </a:solidFill>
              </a:rPr>
              <a:t> in the current Network. Let Γ(x) represent the </a:t>
            </a:r>
            <a:r>
              <a:rPr b="1" lang="en" sz="1200">
                <a:solidFill>
                  <a:schemeClr val="dk1"/>
                </a:solidFill>
              </a:rPr>
              <a:t>set of neighbors</a:t>
            </a:r>
            <a:r>
              <a:rPr lang="en" sz="1200">
                <a:solidFill>
                  <a:schemeClr val="dk1"/>
                </a:solidFill>
              </a:rPr>
              <a:t> of node x. </a:t>
            </a:r>
            <a:r>
              <a:rPr lang="en" sz="1300">
                <a:solidFill>
                  <a:schemeClr val="dk1"/>
                </a:solidFill>
              </a:rPr>
              <a:t>                                                                                                                                                             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nodes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CN(x, y) = |Γ(x) ∩ Γ(y)|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46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67" name="Google Shape;367;p46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368" name="Google Shape;368;p46"/>
          <p:cNvSpPr txBox="1"/>
          <p:nvPr/>
        </p:nvSpPr>
        <p:spPr>
          <a:xfrm>
            <a:off x="-458300" y="58550"/>
            <a:ext cx="69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                                      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Predicted</a:t>
            </a:r>
            <a:r>
              <a:rPr lang="en" sz="19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</a:t>
            </a:r>
            <a:r>
              <a:rPr b="1" lang="en">
                <a:solidFill>
                  <a:srgbClr val="980000"/>
                </a:solidFill>
                <a:latin typeface="Comic Sans MS"/>
                <a:ea typeface="Comic Sans MS"/>
                <a:cs typeface="Comic Sans MS"/>
                <a:sym typeface="Comic Sans MS"/>
              </a:rPr>
              <a:t>vs</a:t>
            </a:r>
            <a:r>
              <a:rPr lang="en" sz="16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Actual</a:t>
            </a:r>
            <a:endParaRPr sz="20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369" name="Google Shape;369;p46" title="Screenshot 2025-04-14 1038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5" y="551150"/>
            <a:ext cx="4407376" cy="43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46" title="Screenshot 2025-04-14 103824.png"/>
          <p:cNvPicPr preferRelativeResize="0"/>
          <p:nvPr/>
        </p:nvPicPr>
        <p:blipFill rotWithShape="1">
          <a:blip r:embed="rId4">
            <a:alphaModFix/>
          </a:blip>
          <a:srcRect b="0" l="0" r="0" t="1448"/>
          <a:stretch/>
        </p:blipFill>
        <p:spPr>
          <a:xfrm>
            <a:off x="4615500" y="551150"/>
            <a:ext cx="4407376" cy="431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7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76" name="Google Shape;376;p47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29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Validation Methods</a:t>
            </a:r>
            <a:endParaRPr sz="25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77" name="Google Shape;377;p47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78" name="Google Shape;378;p47"/>
          <p:cNvSpPr txBox="1"/>
          <p:nvPr/>
        </p:nvSpPr>
        <p:spPr>
          <a:xfrm>
            <a:off x="263375" y="1087100"/>
            <a:ext cx="3839700" cy="38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Train-Test Split (Temporal Hold-Out)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the network by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(e.g., train on 2020, test on 2021)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Predict future links using past structure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Precision &amp; Recall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% of predicted links that are correct.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% of actual links that were correctly predicted.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Accuracy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Measures total correctness (both link and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no-link predictions)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379" name="Google Shape;379;p47" title="Screenshot 2025-04-14 13462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6000" y="554625"/>
            <a:ext cx="4715051" cy="3998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48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85" name="Google Shape;385;p48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Challenges Faced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86" name="Google Shape;386;p48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87" name="Google Shape;387;p48"/>
          <p:cNvSpPr txBox="1"/>
          <p:nvPr/>
        </p:nvSpPr>
        <p:spPr>
          <a:xfrm>
            <a:off x="263375" y="1109700"/>
            <a:ext cx="8503800" cy="36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231870"/>
              </a:buClr>
              <a:buSzPts val="17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Dataset was not formatted correctly and also included many NULL values for the messages. Data preprocessing had to be done multiple times to ensure that the data was in a format that was easy to read and process.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Plotting using Bokeh and Dynetx required going through documentation, since it was the first time we used the tool.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Large size of the dataset made it complex to model all of the data in the form of a network every time we rendered it. So we ran our tests on a smaller sample, and the final code run was on the full dataset.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Community-detection resulted in the communities being cluttered together, making it visually unappealing.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93" name="Google Shape;393;p49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Future Work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94" name="Google Shape;394;p49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95" name="Google Shape;395;p49"/>
          <p:cNvSpPr txBox="1"/>
          <p:nvPr/>
        </p:nvSpPr>
        <p:spPr>
          <a:xfrm>
            <a:off x="320100" y="1397075"/>
            <a:ext cx="8503800" cy="36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Enhanced Community Detection Approaches and comparison with other algorithms.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Implementing and comparing other classical growth models such as </a:t>
            </a:r>
            <a:r>
              <a:rPr b="1" lang="en" sz="1600">
                <a:solidFill>
                  <a:schemeClr val="dk1"/>
                </a:solidFill>
              </a:rPr>
              <a:t>Barabási–Albert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Use historical data to predict future word associations or emerging fraud templates using methods like </a:t>
            </a:r>
            <a:r>
              <a:rPr b="1" lang="en" sz="1600">
                <a:solidFill>
                  <a:schemeClr val="dk1"/>
                </a:solidFill>
              </a:rPr>
              <a:t>Jaccard Similarity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Improvement of the web dashboard UI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0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401" name="Google Shape;401;p50"/>
          <p:cNvSpPr txBox="1"/>
          <p:nvPr/>
        </p:nvSpPr>
        <p:spPr>
          <a:xfrm>
            <a:off x="270600" y="2302938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4400">
                <a:solidFill>
                  <a:srgbClr val="1A1A1A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Thank you!</a:t>
            </a:r>
            <a:endParaRPr sz="2800">
              <a:solidFill>
                <a:schemeClr val="dk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870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